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Vaishnavi Ojha and my registration number is 12405374. My project is called Smart Calculator, a stack-based expression evaluator. It is a calculator that runs in the browser, but the actual calculation is done by a C++ program compiled to WebAssembly. I mainly built it to show how the stack data structure can be used in a real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a calculator that understands full mathematical expressions, like (12 + 8) * 3 - sqrt(49) / 7, in one go. A basic calculator makes you press operations one at a time. Here you type the whole expression and the program decides the correct order using operator precedence. The main idea is that the expression is first converted from infix to postfix, and then a stack is used to evaluate it. So this project is really about using DSA in a practical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 calculators are fine for simple work, but they struggle with longer expressions. If I write 3 + 5 * 2, the answer should be 13 and not 16, so the calculator must respect precedence. It also has to handle brackets, negative signs and scientific functions. And usually there is no proper history. This project solves these problems by using a stack-based algorithm so that any valid expression is evaluated correctly and invalid ones give a clear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seven objectives I set for this project. First, build an interactive calculator. Second, use the stack data structure to evaluate expressions. Third, convert infix to postfix. Fourth, handle precedence and associativity properly. Fifth, connect the C++ engine to the browser using WebAssembly. Sixth, provide history and variable management. And last, give proper error messages for invalid input like division by zero or mismatched brackets.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technologies I used. C++ is the language of the core engine. DSA and the stack are the main concept. WebAssembly lets the C++ code run inside the browser. JavaScript is the glue, it loads the wasm file and updates the screen. HTML5 gives the structure, CSS3 gives the dark modern design, and LocalStorage keeps the history and variables even after the page is closed. I did not use any framework like React or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whole system works. The user types an expression in the interface. JavaScript takes it, copies the text into WebAssembly memory, and calls the evaluate_expression function. Inside, the C++ evaluator first tokenizes the expression, then converts it to postfix using a stack, and then evaluates the postfix using another stack. The result comes back as a JSON string with the answer and the postfix expression, and JavaScript shows it on screen. At the top, LocalStorage is connected to the JavaScript layer and stores variables and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I use the stack in two places. In infix to postfix conversion, operators go onto a stack. When a new operator comes, I compare its precedence with the operator on top, and pop if the top is stronger, or equal and left associative. Opening brackets are pushed, and a closing bracket pops everything until the opening one. Then for evaluation, I use a second stack of numbers. In the example, 3 5 2 star plus: push 3, 5, 2, then star pops 5 and 2 and pushes 10, then plus pops 3 and 10 and pushes 13. That is the final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divided into eight modules. The calculator module is the interface with buttons. The expression parser does tokenization and handles unary signs and brackets. The stack-based evaluator does infix to postfix and then the calculation. Scientific functions are sqrt, factorial and percentage, with constants pi and e. Variable management stores named values. History management saves every calculation with date, postfix and result, and you can search, sort and delete it. Error handling catches things like division by zero. And the WASM C++ engine ties 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small snippets from my actual code. First, getPrecedence gives unary minus the highest priority, then power, then multiply divide and modulus, then plus and minus. Second, this line is the heart of the shunting-yard algorithm. It decides when to pop an operator from the stack. Third, in the tokenizer, a plus or minus is treated as unary if it comes at the start or after an operator or an opening bracket. Fourth, the wasm bindings file exposes evaluate_expression as an extern C function that returns JSON. And fifth, in JavaScript I load calculator.wasm and call that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screenshots from my project. On the left is the calculator screen. It shows the original expression, the postfix form, and the result. Here I typed (12 + 8) * 3 - sqrt(49) / 7, the postfix is 12 8 + 3 * 49 sqrt 7 / -, and the answer is 59. On the right is the history page, where each record shows the date, the expression, the postfix stack and the result. I can search, sort and delete records. There is also a Help page and a Settings page with three colour themes, a reset button and the WebAssembly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advantages, applications and future scope. The main advantages are efficient evaluation, practical use of DSA, support for complex expressions, fast C++ calculation, a browser interface, and saved history. It can be used as an educational calculator or as a demo to teach infix, postfix and stack. In the future I can add more scientific functions like sin and log, graph plotting, matrix calculations, a better mobile interface and a more advanced parser.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project shows how data structures can be used in a real application. The stack does the main work in both parsing and evaluation. C++ is the engine, and WebAssembly lets it run in the browser with JavaScript connecting everything. The final result is an interactive calculator with postfix output, history and error handling. Thank you for listening, I am happy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548640" y="640080"/>
            <a:ext cx="4572000" cy="274320"/>
          </a:xfrm>
          <a:prstGeom prst="rect">
            <a:avLst/>
          </a:prstGeom>
          <a:noFill/>
          <a:ln/>
        </p:spPr>
        <p:txBody>
          <a:bodyPr wrap="square" lIns="0" tIns="0" rIns="0" bIns="0" rtlCol="0" anchor="ctr"/>
          <a:lstStyle/>
          <a:p>
            <a:pPr indent="0" marL="0">
              <a:buNone/>
            </a:pPr>
            <a:r>
              <a:rPr lang="en-US" sz="1200" b="1" spc="300" kern="0" dirty="0">
                <a:solidFill>
                  <a:srgbClr val="5E6EF2"/>
                </a:solidFill>
                <a:latin typeface="Calibri" pitchFamily="34" charset="0"/>
                <a:ea typeface="Calibri" pitchFamily="34" charset="-122"/>
                <a:cs typeface="Calibri" pitchFamily="34" charset="-120"/>
              </a:rPr>
              <a:t>B.TECH CSE  |  DSA PROJECT</a:t>
            </a:r>
            <a:endParaRPr lang="en-US" sz="1200" dirty="0"/>
          </a:p>
        </p:txBody>
      </p:sp>
      <p:sp>
        <p:nvSpPr>
          <p:cNvPr id="3" name="Text 1"/>
          <p:cNvSpPr txBox="1"/>
          <p:nvPr/>
        </p:nvSpPr>
        <p:spPr>
          <a:xfrm>
            <a:off x="548640" y="1097280"/>
            <a:ext cx="4572000" cy="7315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Smart Calculator</a:t>
            </a:r>
            <a:endParaRPr lang="en-US" sz="4000" dirty="0"/>
          </a:p>
        </p:txBody>
      </p:sp>
      <p:sp>
        <p:nvSpPr>
          <p:cNvPr id="4" name="Text 2"/>
          <p:cNvSpPr txBox="1"/>
          <p:nvPr/>
        </p:nvSpPr>
        <p:spPr>
          <a:xfrm>
            <a:off x="548640" y="1828800"/>
            <a:ext cx="4572000" cy="457200"/>
          </a:xfrm>
          <a:prstGeom prst="rect">
            <a:avLst/>
          </a:prstGeom>
          <a:noFill/>
          <a:ln/>
        </p:spPr>
        <p:txBody>
          <a:bodyPr wrap="square" lIns="0" tIns="0" rIns="0" bIns="0" rtlCol="0" anchor="ctr"/>
          <a:lstStyle/>
          <a:p>
            <a:pPr indent="0" marL="0">
              <a:buNone/>
            </a:pPr>
            <a:r>
              <a:rPr lang="en-US" sz="2200" dirty="0">
                <a:solidFill>
                  <a:srgbClr val="C7D2FE"/>
                </a:solidFill>
                <a:latin typeface="Cambria" pitchFamily="34" charset="0"/>
                <a:ea typeface="Cambria" pitchFamily="34" charset="-122"/>
                <a:cs typeface="Cambria" pitchFamily="34" charset="-120"/>
              </a:rPr>
              <a:t>Stack-Based Expression Evaluator</a:t>
            </a:r>
            <a:endParaRPr lang="en-US" sz="2200" dirty="0"/>
          </a:p>
        </p:txBody>
      </p:sp>
      <p:sp>
        <p:nvSpPr>
          <p:cNvPr id="5" name="Text 3"/>
          <p:cNvSpPr txBox="1"/>
          <p:nvPr/>
        </p:nvSpPr>
        <p:spPr>
          <a:xfrm>
            <a:off x="548640" y="2423160"/>
            <a:ext cx="4572000" cy="274320"/>
          </a:xfrm>
          <a:prstGeom prst="rect">
            <a:avLst/>
          </a:prstGeom>
          <a:noFill/>
          <a:ln/>
        </p:spPr>
        <p:txBody>
          <a:bodyPr wrap="square" lIns="0" tIns="0" rIns="0" bIns="0" rtlCol="0" anchor="ctr"/>
          <a:lstStyle/>
          <a:p>
            <a:pPr indent="0" marL="0">
              <a:buNone/>
            </a:pPr>
            <a:r>
              <a:rPr lang="en-US" sz="1300" dirty="0">
                <a:solidFill>
                  <a:srgbClr val="9CA3AF"/>
                </a:solidFill>
                <a:latin typeface="Calibri" pitchFamily="34" charset="0"/>
                <a:ea typeface="Calibri" pitchFamily="34" charset="-122"/>
                <a:cs typeface="Calibri" pitchFamily="34" charset="-120"/>
              </a:rPr>
              <a:t>C++  •  WebAssembly  •  JavaScript</a:t>
            </a:r>
            <a:endParaRPr lang="en-US" sz="1300" dirty="0"/>
          </a:p>
        </p:txBody>
      </p:sp>
      <p:sp>
        <p:nvSpPr>
          <p:cNvPr id="6" name="Text 4"/>
          <p:cNvSpPr txBox="1"/>
          <p:nvPr/>
        </p:nvSpPr>
        <p:spPr>
          <a:xfrm>
            <a:off x="548640" y="3383280"/>
            <a:ext cx="4572000" cy="10058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Vaishnavi Ojha</a:t>
            </a:r>
            <a:endParaRPr lang="en-US" sz="1800" dirty="0"/>
          </a:p>
          <a:p>
            <a:pPr indent="0" marL="0">
              <a:buNone/>
            </a:pPr>
            <a:r>
              <a:rPr lang="en-US" sz="1400" dirty="0">
                <a:solidFill>
                  <a:srgbClr val="C7D2FE"/>
                </a:solidFill>
                <a:latin typeface="Calibri" pitchFamily="34" charset="0"/>
                <a:ea typeface="Calibri" pitchFamily="34" charset="-122"/>
                <a:cs typeface="Calibri" pitchFamily="34" charset="-120"/>
              </a:rPr>
              <a:t>Registration No.: 12405374</a:t>
            </a:r>
            <a:endParaRPr lang="en-US" sz="1800" dirty="0"/>
          </a:p>
          <a:p>
            <a:pPr indent="0" marL="0">
              <a:buNone/>
            </a:pPr>
            <a:r>
              <a:rPr lang="en-US" sz="1400" dirty="0">
                <a:solidFill>
                  <a:srgbClr val="C7D2FE"/>
                </a:solidFill>
                <a:latin typeface="Calibri" pitchFamily="34" charset="0"/>
                <a:ea typeface="Calibri" pitchFamily="34" charset="-122"/>
                <a:cs typeface="Calibri" pitchFamily="34" charset="-120"/>
              </a:rPr>
              <a:t>B.Tech CSE</a:t>
            </a:r>
            <a:endParaRPr lang="en-US" sz="1800" dirty="0"/>
          </a:p>
        </p:txBody>
      </p:sp>
      <p:pic>
        <p:nvPicPr>
          <p:cNvPr id="7" name="Image 0" descr="s_calc.png">    </p:cNvPr>
          <p:cNvPicPr>
            <a:picLocks noChangeAspect="1"/>
          </p:cNvPicPr>
          <p:nvPr/>
        </p:nvPicPr>
        <p:blipFill>
          <a:blip r:embed="rId1"/>
          <a:stretch>
            <a:fillRect/>
          </a:stretch>
        </p:blipFill>
        <p:spPr>
          <a:xfrm>
            <a:off x="5029200" y="1051560"/>
            <a:ext cx="3749040" cy="2221992"/>
          </a:xfrm>
          <a:prstGeom prst="rect">
            <a:avLst/>
          </a:prstGeom>
          <a:effectLst>
            <a:outerShdw sx="100000" sy="100000" kx="0" ky="0" algn="bl" rotWithShape="0" blurRad="152400" dist="50800" dir="5400000">
              <a:srgbClr val="000000">
                <a:alpha val="50000"/>
              </a:srgbClr>
            </a:outerShdw>
          </a:effectLst>
        </p:spPr>
      </p:pic>
      <p:sp>
        <p:nvSpPr>
          <p:cNvPr id="8" name="Text 5"/>
          <p:cNvSpPr txBox="1"/>
          <p:nvPr/>
        </p:nvSpPr>
        <p:spPr>
          <a:xfrm>
            <a:off x="5029200" y="3520440"/>
            <a:ext cx="3749040" cy="365760"/>
          </a:xfrm>
          <a:prstGeom prst="rect">
            <a:avLst/>
          </a:prstGeom>
          <a:noFill/>
          <a:ln/>
        </p:spPr>
        <p:txBody>
          <a:bodyPr wrap="square" lIns="0" tIns="0" rIns="0" bIns="0" rtlCol="0" anchor="ctr"/>
          <a:lstStyle/>
          <a:p>
            <a:pPr algn="ctr" indent="0" marL="0">
              <a:buNone/>
            </a:pPr>
            <a:r>
              <a:rPr lang="en-US" sz="1300" dirty="0">
                <a:solidFill>
                  <a:srgbClr val="10B981"/>
                </a:solidFill>
                <a:latin typeface="Courier New" pitchFamily="34" charset="0"/>
                <a:ea typeface="Courier New" pitchFamily="34" charset="-122"/>
                <a:cs typeface="Courier New" pitchFamily="34" charset="-120"/>
              </a:rPr>
              <a:t>3 + 5 * 2   →   3 5 2 * +   →   13</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0B1020"/>
                </a:solidFill>
                <a:latin typeface="Cambria" pitchFamily="34" charset="0"/>
                <a:ea typeface="Cambria" pitchFamily="34" charset="-122"/>
                <a:cs typeface="Cambria" pitchFamily="34" charset="-120"/>
              </a:rPr>
              <a:t>Introduction</a:t>
            </a:r>
            <a:endParaRPr lang="en-US" sz="2800" dirty="0"/>
          </a:p>
        </p:txBody>
      </p:sp>
      <p:sp>
        <p:nvSpPr>
          <p:cNvPr id="3" name="Text 1"/>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Smart Calculator – Stack-Based Expression Evaluator</a:t>
            </a:r>
            <a:endParaRPr lang="en-US" sz="900" dirty="0"/>
          </a:p>
        </p:txBody>
      </p:sp>
      <p:sp>
        <p:nvSpPr>
          <p:cNvPr id="4" name="Text 2"/>
          <p:cNvSpPr txBox="1"/>
          <p:nvPr/>
        </p:nvSpPr>
        <p:spPr>
          <a:xfrm>
            <a:off x="5029200" y="4773168"/>
            <a:ext cx="3657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Vaishnavi Ojha  |  12405374  |  2</a:t>
            </a:r>
            <a:endParaRPr lang="en-US" sz="900" dirty="0"/>
          </a:p>
        </p:txBody>
      </p:sp>
      <p:sp>
        <p:nvSpPr>
          <p:cNvPr id="6" name="Text 3"/>
          <p:cNvSpPr txBox="1"/>
          <p:nvPr/>
        </p:nvSpPr>
        <p:spPr>
          <a:xfrm>
            <a:off x="457200" y="1097280"/>
            <a:ext cx="4023360" cy="31089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F2937"/>
                </a:solidFill>
                <a:latin typeface="Calibri" pitchFamily="34" charset="0"/>
                <a:ea typeface="Calibri" pitchFamily="34" charset="-122"/>
                <a:cs typeface="Calibri" pitchFamily="34" charset="-120"/>
              </a:rPr>
              <a:t>A calculator that evaluates complete infix expressions in one step</a:t>
            </a:r>
            <a:endParaRPr lang="en-US" sz="1500" dirty="0"/>
          </a:p>
          <a:p>
            <a:pPr marL="342900" indent="-342900">
              <a:spcAft>
                <a:spcPts val="1000"/>
              </a:spcAft>
              <a:buSzPct val="100000"/>
              <a:buChar char="•"/>
            </a:pPr>
            <a:r>
              <a:rPr lang="en-US" sz="1500" dirty="0">
                <a:solidFill>
                  <a:srgbClr val="1F2937"/>
                </a:solidFill>
                <a:latin typeface="Calibri" pitchFamily="34" charset="0"/>
                <a:ea typeface="Calibri" pitchFamily="34" charset="-122"/>
                <a:cs typeface="Calibri" pitchFamily="34" charset="-120"/>
              </a:rPr>
              <a:t>Parsing is done with the Stack data structure (infix → postfix)</a:t>
            </a:r>
            <a:endParaRPr lang="en-US" sz="1500" dirty="0"/>
          </a:p>
          <a:p>
            <a:pPr marL="342900" indent="-342900">
              <a:spcAft>
                <a:spcPts val="1000"/>
              </a:spcAft>
              <a:buSzPct val="100000"/>
              <a:buChar char="•"/>
            </a:pPr>
            <a:r>
              <a:rPr lang="en-US" sz="1500" dirty="0">
                <a:solidFill>
                  <a:srgbClr val="1F2937"/>
                </a:solidFill>
                <a:latin typeface="Calibri" pitchFamily="34" charset="0"/>
                <a:ea typeface="Calibri" pitchFamily="34" charset="-122"/>
                <a:cs typeface="Calibri" pitchFamily="34" charset="-120"/>
              </a:rPr>
              <a:t>Core engine written in C++, running in the browser via WebAssembly</a:t>
            </a:r>
            <a:endParaRPr lang="en-US" sz="1500" dirty="0"/>
          </a:p>
          <a:p>
            <a:pPr marL="342900" indent="-342900">
              <a:spcAft>
                <a:spcPts val="1000"/>
              </a:spcAft>
              <a:buSzPct val="100000"/>
              <a:buChar char="•"/>
            </a:pPr>
            <a:r>
              <a:rPr lang="en-US" sz="1500" dirty="0">
                <a:solidFill>
                  <a:srgbClr val="1F2937"/>
                </a:solidFill>
                <a:latin typeface="Calibri" pitchFamily="34" charset="0"/>
                <a:ea typeface="Calibri" pitchFamily="34" charset="-122"/>
                <a:cs typeface="Calibri" pitchFamily="34" charset="-120"/>
              </a:rPr>
              <a:t>Supports functions, constants, variables and saved history</a:t>
            </a:r>
            <a:endParaRPr lang="en-US" sz="1500" dirty="0"/>
          </a:p>
        </p:txBody>
      </p:sp>
      <p:sp>
        <p:nvSpPr>
          <p:cNvPr id="7" name="Shape 4"/>
          <p:cNvSpPr/>
          <p:nvPr/>
        </p:nvSpPr>
        <p:spPr>
          <a:xfrm>
            <a:off x="4846320" y="1097280"/>
            <a:ext cx="3840480" cy="1554480"/>
          </a:xfrm>
          <a:prstGeom prst="roundRect">
            <a:avLst>
              <a:gd name="adj" fmla="val 4706"/>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8" name="Shape 5"/>
          <p:cNvSpPr/>
          <p:nvPr/>
        </p:nvSpPr>
        <p:spPr>
          <a:xfrm>
            <a:off x="4846320" y="2834640"/>
            <a:ext cx="3840480" cy="1554480"/>
          </a:xfrm>
          <a:prstGeom prst="roundRect">
            <a:avLst>
              <a:gd name="adj" fmla="val 4706"/>
            </a:avLst>
          </a:prstGeom>
          <a:solidFill>
            <a:srgbClr val="0B1020"/>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9" name="Text 6"/>
          <p:cNvSpPr txBox="1"/>
          <p:nvPr/>
        </p:nvSpPr>
        <p:spPr>
          <a:xfrm>
            <a:off x="5029200" y="1188720"/>
            <a:ext cx="3474720" cy="274320"/>
          </a:xfrm>
          <a:prstGeom prst="rect">
            <a:avLst/>
          </a:prstGeom>
          <a:noFill/>
          <a:ln/>
        </p:spPr>
        <p:txBody>
          <a:bodyPr wrap="square" lIns="0" tIns="0" rIns="0" bIns="0" rtlCol="0" anchor="ctr"/>
          <a:lstStyle/>
          <a:p>
            <a:pPr indent="0" marL="0">
              <a:buNone/>
            </a:pPr>
            <a:r>
              <a:rPr lang="en-US" sz="1300" b="1" dirty="0">
                <a:solidFill>
                  <a:srgbClr val="6B7280"/>
                </a:solidFill>
                <a:latin typeface="Calibri" pitchFamily="34" charset="0"/>
                <a:ea typeface="Calibri" pitchFamily="34" charset="-122"/>
                <a:cs typeface="Calibri" pitchFamily="34" charset="-120"/>
              </a:rPr>
              <a:t>Basic calculator</a:t>
            </a:r>
            <a:endParaRPr lang="en-US" sz="1300" dirty="0"/>
          </a:p>
        </p:txBody>
      </p:sp>
      <p:sp>
        <p:nvSpPr>
          <p:cNvPr id="10" name="Text 7"/>
          <p:cNvSpPr txBox="1"/>
          <p:nvPr/>
        </p:nvSpPr>
        <p:spPr>
          <a:xfrm>
            <a:off x="5029200" y="1508760"/>
            <a:ext cx="3474720" cy="1005840"/>
          </a:xfrm>
          <a:prstGeom prst="rect">
            <a:avLst/>
          </a:prstGeom>
          <a:noFill/>
          <a:ln/>
        </p:spPr>
        <p:txBody>
          <a:bodyPr wrap="square" lIns="0" tIns="0" rIns="0" bIns="0" rtlCol="0" anchor="ctr"/>
          <a:lstStyle/>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One operation at a time</a:t>
            </a:r>
            <a:endParaRPr lang="en-US" sz="1300" dirty="0"/>
          </a:p>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No brackets or functions</a:t>
            </a:r>
            <a:endParaRPr lang="en-US" sz="1300" dirty="0"/>
          </a:p>
          <a:p>
            <a:pPr marL="342900" indent="-342900">
              <a:buSzPct val="100000"/>
              <a:buChar char="•"/>
            </a:pPr>
            <a:r>
              <a:rPr lang="en-US" sz="1300" dirty="0">
                <a:solidFill>
                  <a:srgbClr val="1F2937"/>
                </a:solidFill>
                <a:latin typeface="Calibri" pitchFamily="34" charset="0"/>
                <a:ea typeface="Calibri" pitchFamily="34" charset="-122"/>
                <a:cs typeface="Calibri" pitchFamily="34" charset="-120"/>
              </a:rPr>
              <a:t>No memory of past work</a:t>
            </a:r>
            <a:endParaRPr lang="en-US" sz="1300" dirty="0"/>
          </a:p>
        </p:txBody>
      </p:sp>
      <p:sp>
        <p:nvSpPr>
          <p:cNvPr id="11" name="Text 8"/>
          <p:cNvSpPr txBox="1"/>
          <p:nvPr/>
        </p:nvSpPr>
        <p:spPr>
          <a:xfrm>
            <a:off x="5029200" y="2926080"/>
            <a:ext cx="3474720" cy="274320"/>
          </a:xfrm>
          <a:prstGeom prst="rect">
            <a:avLst/>
          </a:prstGeom>
          <a:noFill/>
          <a:ln/>
        </p:spPr>
        <p:txBody>
          <a:bodyPr wrap="square" lIns="0" tIns="0" rIns="0" bIns="0" rtlCol="0" anchor="ctr"/>
          <a:lstStyle/>
          <a:p>
            <a:pPr indent="0" marL="0">
              <a:buNone/>
            </a:pPr>
            <a:r>
              <a:rPr lang="en-US" sz="1300" b="1" dirty="0">
                <a:solidFill>
                  <a:srgbClr val="C7D2FE"/>
                </a:solidFill>
                <a:latin typeface="Calibri" pitchFamily="34" charset="0"/>
                <a:ea typeface="Calibri" pitchFamily="34" charset="-122"/>
                <a:cs typeface="Calibri" pitchFamily="34" charset="-120"/>
              </a:rPr>
              <a:t>Smart Calculator</a:t>
            </a:r>
            <a:endParaRPr lang="en-US" sz="1300" dirty="0"/>
          </a:p>
        </p:txBody>
      </p:sp>
      <p:sp>
        <p:nvSpPr>
          <p:cNvPr id="12" name="Text 9"/>
          <p:cNvSpPr txBox="1"/>
          <p:nvPr/>
        </p:nvSpPr>
        <p:spPr>
          <a:xfrm>
            <a:off x="5029200" y="3246120"/>
            <a:ext cx="3474720" cy="1005840"/>
          </a:xfrm>
          <a:prstGeom prst="rect">
            <a:avLst/>
          </a:prstGeom>
          <a:noFill/>
          <a:ln/>
        </p:spPr>
        <p:txBody>
          <a:bodyPr wrap="square" lIns="0" tIns="0" rIns="0" bIns="0" rtlCol="0" anchor="ctr"/>
          <a:lstStyle/>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Whole expression, correct precedence</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Brackets, unary signs, sqrt, factorial</a:t>
            </a:r>
            <a:endParaRPr lang="en-US" sz="1300" dirty="0"/>
          </a:p>
          <a:p>
            <a:pPr marL="342900" indent="-342900">
              <a:buSzPct val="100000"/>
              <a:buChar char="•"/>
            </a:pPr>
            <a:r>
              <a:rPr lang="en-US" sz="1300" dirty="0">
                <a:solidFill>
                  <a:srgbClr val="FFFFFF"/>
                </a:solidFill>
                <a:latin typeface="Calibri" pitchFamily="34" charset="0"/>
                <a:ea typeface="Calibri" pitchFamily="34" charset="-122"/>
                <a:cs typeface="Calibri" pitchFamily="34" charset="-120"/>
              </a:rPr>
              <a:t>Shows postfix + saves history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0B1020"/>
                </a:solidFill>
                <a:latin typeface="Cambria" pitchFamily="34" charset="0"/>
                <a:ea typeface="Cambria" pitchFamily="34" charset="-122"/>
                <a:cs typeface="Cambria" pitchFamily="34" charset="-120"/>
              </a:rPr>
              <a:t>Problem Statement</a:t>
            </a:r>
            <a:endParaRPr lang="en-US" sz="2800" dirty="0"/>
          </a:p>
        </p:txBody>
      </p:sp>
      <p:sp>
        <p:nvSpPr>
          <p:cNvPr id="3" name="Text 1"/>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Smart Calculator – Stack-Based Expression Evaluator</a:t>
            </a:r>
            <a:endParaRPr lang="en-US" sz="900" dirty="0"/>
          </a:p>
        </p:txBody>
      </p:sp>
      <p:sp>
        <p:nvSpPr>
          <p:cNvPr id="4" name="Text 2"/>
          <p:cNvSpPr txBox="1"/>
          <p:nvPr/>
        </p:nvSpPr>
        <p:spPr>
          <a:xfrm>
            <a:off x="5029200" y="4773168"/>
            <a:ext cx="3657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Vaishnavi Ojha  |  12405374  |  3</a:t>
            </a:r>
            <a:endParaRPr lang="en-US" sz="900" dirty="0"/>
          </a:p>
        </p:txBody>
      </p:sp>
      <p:sp>
        <p:nvSpPr>
          <p:cNvPr id="6" name="Shape 3"/>
          <p:cNvSpPr/>
          <p:nvPr/>
        </p:nvSpPr>
        <p:spPr>
          <a:xfrm>
            <a:off x="457200" y="1051560"/>
            <a:ext cx="2606040" cy="1325880"/>
          </a:xfrm>
          <a:prstGeom prst="roundRect">
            <a:avLst>
              <a:gd name="adj" fmla="val 5517"/>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7" name="Shape 4"/>
          <p:cNvSpPr/>
          <p:nvPr/>
        </p:nvSpPr>
        <p:spPr>
          <a:xfrm>
            <a:off x="640080" y="1234440"/>
            <a:ext cx="457200" cy="457200"/>
          </a:xfrm>
          <a:prstGeom prst="ellipse">
            <a:avLst/>
          </a:prstGeom>
          <a:solidFill>
            <a:srgbClr val="5E6EF2"/>
          </a:solidFill>
          <a:ln w="12700">
            <a:solidFill>
              <a:srgbClr val="5E6EF2"/>
            </a:solidFill>
            <a:prstDash val="solid"/>
          </a:ln>
        </p:spPr>
      </p:sp>
      <p:pic>
        <p:nvPicPr>
          <p:cNvPr id="8" name="Image 0" descr="preencoded.png">    </p:cNvPr>
          <p:cNvPicPr>
            <a:picLocks noChangeAspect="1"/>
          </p:cNvPicPr>
          <p:nvPr/>
        </p:nvPicPr>
        <p:blipFill>
          <a:blip r:embed="rId1"/>
          <a:stretch>
            <a:fillRect/>
          </a:stretch>
        </p:blipFill>
        <p:spPr>
          <a:xfrm>
            <a:off x="758952" y="1353312"/>
            <a:ext cx="219456" cy="219456"/>
          </a:xfrm>
          <a:prstGeom prst="rect">
            <a:avLst/>
          </a:prstGeom>
        </p:spPr>
      </p:pic>
      <p:sp>
        <p:nvSpPr>
          <p:cNvPr id="9" name="Text 5"/>
          <p:cNvSpPr txBox="1"/>
          <p:nvPr/>
        </p:nvSpPr>
        <p:spPr>
          <a:xfrm>
            <a:off x="1234440" y="1234440"/>
            <a:ext cx="1737360" cy="457200"/>
          </a:xfrm>
          <a:prstGeom prst="rect">
            <a:avLst/>
          </a:prstGeom>
          <a:noFill/>
          <a:ln/>
        </p:spPr>
        <p:txBody>
          <a:bodyPr wrap="square" lIns="0" tIns="0" rIns="0" bIns="0" rtlCol="0" anchor="ctr"/>
          <a:lstStyle/>
          <a:p>
            <a:pPr indent="0" marL="0">
              <a:buNone/>
            </a:pPr>
            <a:r>
              <a:rPr lang="en-US" sz="1400" b="1" dirty="0">
                <a:solidFill>
                  <a:srgbClr val="0B1020"/>
                </a:solidFill>
                <a:latin typeface="Calibri" pitchFamily="34" charset="0"/>
                <a:ea typeface="Calibri" pitchFamily="34" charset="-122"/>
                <a:cs typeface="Calibri" pitchFamily="34" charset="-120"/>
              </a:rPr>
              <a:t>Complex expressions</a:t>
            </a:r>
            <a:endParaRPr lang="en-US" sz="1400" dirty="0"/>
          </a:p>
        </p:txBody>
      </p:sp>
      <p:sp>
        <p:nvSpPr>
          <p:cNvPr id="10" name="Text 6"/>
          <p:cNvSpPr txBox="1"/>
          <p:nvPr/>
        </p:nvSpPr>
        <p:spPr>
          <a:xfrm>
            <a:off x="640080" y="1828800"/>
            <a:ext cx="2286000" cy="4572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Long expressions mixing many operators</a:t>
            </a:r>
            <a:endParaRPr lang="en-US" sz="1200" dirty="0"/>
          </a:p>
        </p:txBody>
      </p:sp>
      <p:sp>
        <p:nvSpPr>
          <p:cNvPr id="11" name="Shape 7"/>
          <p:cNvSpPr/>
          <p:nvPr/>
        </p:nvSpPr>
        <p:spPr>
          <a:xfrm>
            <a:off x="3246120" y="1051560"/>
            <a:ext cx="2606040" cy="1325880"/>
          </a:xfrm>
          <a:prstGeom prst="roundRect">
            <a:avLst>
              <a:gd name="adj" fmla="val 5517"/>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12" name="Shape 8"/>
          <p:cNvSpPr/>
          <p:nvPr/>
        </p:nvSpPr>
        <p:spPr>
          <a:xfrm>
            <a:off x="3429000" y="1234440"/>
            <a:ext cx="457200" cy="457200"/>
          </a:xfrm>
          <a:prstGeom prst="ellipse">
            <a:avLst/>
          </a:prstGeom>
          <a:solidFill>
            <a:srgbClr val="5E6EF2"/>
          </a:solidFill>
          <a:ln w="12700">
            <a:solidFill>
              <a:srgbClr val="5E6EF2"/>
            </a:solidFill>
            <a:prstDash val="solid"/>
          </a:ln>
        </p:spPr>
      </p:sp>
      <p:pic>
        <p:nvPicPr>
          <p:cNvPr id="13" name="Image 1" descr="preencoded.png">    </p:cNvPr>
          <p:cNvPicPr>
            <a:picLocks noChangeAspect="1"/>
          </p:cNvPicPr>
          <p:nvPr/>
        </p:nvPicPr>
        <p:blipFill>
          <a:blip r:embed="rId2"/>
          <a:stretch>
            <a:fillRect/>
          </a:stretch>
        </p:blipFill>
        <p:spPr>
          <a:xfrm>
            <a:off x="3547872" y="1353312"/>
            <a:ext cx="219456" cy="219456"/>
          </a:xfrm>
          <a:prstGeom prst="rect">
            <a:avLst/>
          </a:prstGeom>
        </p:spPr>
      </p:pic>
      <p:sp>
        <p:nvSpPr>
          <p:cNvPr id="14" name="Text 9"/>
          <p:cNvSpPr txBox="1"/>
          <p:nvPr/>
        </p:nvSpPr>
        <p:spPr>
          <a:xfrm>
            <a:off x="4023360" y="1234440"/>
            <a:ext cx="1737360" cy="457200"/>
          </a:xfrm>
          <a:prstGeom prst="rect">
            <a:avLst/>
          </a:prstGeom>
          <a:noFill/>
          <a:ln/>
        </p:spPr>
        <p:txBody>
          <a:bodyPr wrap="square" lIns="0" tIns="0" rIns="0" bIns="0" rtlCol="0" anchor="ctr"/>
          <a:lstStyle/>
          <a:p>
            <a:pPr indent="0" marL="0">
              <a:buNone/>
            </a:pPr>
            <a:r>
              <a:rPr lang="en-US" sz="1400" b="1" dirty="0">
                <a:solidFill>
                  <a:srgbClr val="0B1020"/>
                </a:solidFill>
                <a:latin typeface="Calibri" pitchFamily="34" charset="0"/>
                <a:ea typeface="Calibri" pitchFamily="34" charset="-122"/>
                <a:cs typeface="Calibri" pitchFamily="34" charset="-120"/>
              </a:rPr>
              <a:t>Operator precedence</a:t>
            </a:r>
            <a:endParaRPr lang="en-US" sz="1400" dirty="0"/>
          </a:p>
        </p:txBody>
      </p:sp>
      <p:sp>
        <p:nvSpPr>
          <p:cNvPr id="15" name="Text 10"/>
          <p:cNvSpPr txBox="1"/>
          <p:nvPr/>
        </p:nvSpPr>
        <p:spPr>
          <a:xfrm>
            <a:off x="3429000" y="1828800"/>
            <a:ext cx="2286000" cy="4572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3 + 5 * 2 must give 13, not 16</a:t>
            </a:r>
            <a:endParaRPr lang="en-US" sz="1200" dirty="0"/>
          </a:p>
        </p:txBody>
      </p:sp>
      <p:sp>
        <p:nvSpPr>
          <p:cNvPr id="16" name="Shape 11"/>
          <p:cNvSpPr/>
          <p:nvPr/>
        </p:nvSpPr>
        <p:spPr>
          <a:xfrm>
            <a:off x="6035040" y="1051560"/>
            <a:ext cx="2606040" cy="1325880"/>
          </a:xfrm>
          <a:prstGeom prst="roundRect">
            <a:avLst>
              <a:gd name="adj" fmla="val 5517"/>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17" name="Shape 12"/>
          <p:cNvSpPr/>
          <p:nvPr/>
        </p:nvSpPr>
        <p:spPr>
          <a:xfrm>
            <a:off x="6217920" y="1234440"/>
            <a:ext cx="457200" cy="457200"/>
          </a:xfrm>
          <a:prstGeom prst="ellipse">
            <a:avLst/>
          </a:prstGeom>
          <a:solidFill>
            <a:srgbClr val="5E6EF2"/>
          </a:solidFill>
          <a:ln w="12700">
            <a:solidFill>
              <a:srgbClr val="5E6EF2"/>
            </a:solidFill>
            <a:prstDash val="solid"/>
          </a:ln>
        </p:spPr>
      </p:sp>
      <p:pic>
        <p:nvPicPr>
          <p:cNvPr id="18" name="Image 2" descr="preencoded.png">    </p:cNvPr>
          <p:cNvPicPr>
            <a:picLocks noChangeAspect="1"/>
          </p:cNvPicPr>
          <p:nvPr/>
        </p:nvPicPr>
        <p:blipFill>
          <a:blip r:embed="rId3"/>
          <a:stretch>
            <a:fillRect/>
          </a:stretch>
        </p:blipFill>
        <p:spPr>
          <a:xfrm>
            <a:off x="6336792" y="1353312"/>
            <a:ext cx="219456" cy="219456"/>
          </a:xfrm>
          <a:prstGeom prst="rect">
            <a:avLst/>
          </a:prstGeom>
        </p:spPr>
      </p:pic>
      <p:sp>
        <p:nvSpPr>
          <p:cNvPr id="19" name="Text 13"/>
          <p:cNvSpPr txBox="1"/>
          <p:nvPr/>
        </p:nvSpPr>
        <p:spPr>
          <a:xfrm>
            <a:off x="6812280" y="1234440"/>
            <a:ext cx="1737360" cy="457200"/>
          </a:xfrm>
          <a:prstGeom prst="rect">
            <a:avLst/>
          </a:prstGeom>
          <a:noFill/>
          <a:ln/>
        </p:spPr>
        <p:txBody>
          <a:bodyPr wrap="square" lIns="0" tIns="0" rIns="0" bIns="0" rtlCol="0" anchor="ctr"/>
          <a:lstStyle/>
          <a:p>
            <a:pPr indent="0" marL="0">
              <a:buNone/>
            </a:pPr>
            <a:r>
              <a:rPr lang="en-US" sz="1400" b="1" dirty="0">
                <a:solidFill>
                  <a:srgbClr val="0B1020"/>
                </a:solidFill>
                <a:latin typeface="Calibri" pitchFamily="34" charset="0"/>
                <a:ea typeface="Calibri" pitchFamily="34" charset="-122"/>
                <a:cs typeface="Calibri" pitchFamily="34" charset="-120"/>
              </a:rPr>
              <a:t>Parentheses</a:t>
            </a:r>
            <a:endParaRPr lang="en-US" sz="1400" dirty="0"/>
          </a:p>
        </p:txBody>
      </p:sp>
      <p:sp>
        <p:nvSpPr>
          <p:cNvPr id="20" name="Text 14"/>
          <p:cNvSpPr txBox="1"/>
          <p:nvPr/>
        </p:nvSpPr>
        <p:spPr>
          <a:xfrm>
            <a:off x="6217920" y="1828800"/>
            <a:ext cx="2286000" cy="4572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Nested brackets change the order</a:t>
            </a:r>
            <a:endParaRPr lang="en-US" sz="1200" dirty="0"/>
          </a:p>
        </p:txBody>
      </p:sp>
      <p:sp>
        <p:nvSpPr>
          <p:cNvPr id="21" name="Shape 15"/>
          <p:cNvSpPr/>
          <p:nvPr/>
        </p:nvSpPr>
        <p:spPr>
          <a:xfrm>
            <a:off x="457200" y="2560320"/>
            <a:ext cx="2606040" cy="1325880"/>
          </a:xfrm>
          <a:prstGeom prst="roundRect">
            <a:avLst>
              <a:gd name="adj" fmla="val 5517"/>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22" name="Shape 16"/>
          <p:cNvSpPr/>
          <p:nvPr/>
        </p:nvSpPr>
        <p:spPr>
          <a:xfrm>
            <a:off x="640080" y="2743200"/>
            <a:ext cx="457200" cy="457200"/>
          </a:xfrm>
          <a:prstGeom prst="ellipse">
            <a:avLst/>
          </a:prstGeom>
          <a:solidFill>
            <a:srgbClr val="5E6EF2"/>
          </a:solidFill>
          <a:ln w="12700">
            <a:solidFill>
              <a:srgbClr val="5E6EF2"/>
            </a:solidFill>
            <a:prstDash val="solid"/>
          </a:ln>
        </p:spPr>
      </p:sp>
      <p:pic>
        <p:nvPicPr>
          <p:cNvPr id="23" name="Image 3" descr="preencoded.png">    </p:cNvPr>
          <p:cNvPicPr>
            <a:picLocks noChangeAspect="1"/>
          </p:cNvPicPr>
          <p:nvPr/>
        </p:nvPicPr>
        <p:blipFill>
          <a:blip r:embed="rId4"/>
          <a:stretch>
            <a:fillRect/>
          </a:stretch>
        </p:blipFill>
        <p:spPr>
          <a:xfrm>
            <a:off x="758952" y="2862072"/>
            <a:ext cx="219456" cy="219456"/>
          </a:xfrm>
          <a:prstGeom prst="rect">
            <a:avLst/>
          </a:prstGeom>
        </p:spPr>
      </p:pic>
      <p:sp>
        <p:nvSpPr>
          <p:cNvPr id="24" name="Text 17"/>
          <p:cNvSpPr txBox="1"/>
          <p:nvPr/>
        </p:nvSpPr>
        <p:spPr>
          <a:xfrm>
            <a:off x="1234440" y="2743200"/>
            <a:ext cx="1737360" cy="457200"/>
          </a:xfrm>
          <a:prstGeom prst="rect">
            <a:avLst/>
          </a:prstGeom>
          <a:noFill/>
          <a:ln/>
        </p:spPr>
        <p:txBody>
          <a:bodyPr wrap="square" lIns="0" tIns="0" rIns="0" bIns="0" rtlCol="0" anchor="ctr"/>
          <a:lstStyle/>
          <a:p>
            <a:pPr indent="0" marL="0">
              <a:buNone/>
            </a:pPr>
            <a:r>
              <a:rPr lang="en-US" sz="1400" b="1" dirty="0">
                <a:solidFill>
                  <a:srgbClr val="0B1020"/>
                </a:solidFill>
                <a:latin typeface="Calibri" pitchFamily="34" charset="0"/>
                <a:ea typeface="Calibri" pitchFamily="34" charset="-122"/>
                <a:cs typeface="Calibri" pitchFamily="34" charset="-120"/>
              </a:rPr>
              <a:t>Unary operators</a:t>
            </a:r>
            <a:endParaRPr lang="en-US" sz="1400" dirty="0"/>
          </a:p>
        </p:txBody>
      </p:sp>
      <p:sp>
        <p:nvSpPr>
          <p:cNvPr id="25" name="Text 18"/>
          <p:cNvSpPr txBox="1"/>
          <p:nvPr/>
        </p:nvSpPr>
        <p:spPr>
          <a:xfrm>
            <a:off x="640080" y="3337560"/>
            <a:ext cx="2286000" cy="4572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Signs like -(2+3) or +5</a:t>
            </a:r>
            <a:endParaRPr lang="en-US" sz="1200" dirty="0"/>
          </a:p>
        </p:txBody>
      </p:sp>
      <p:sp>
        <p:nvSpPr>
          <p:cNvPr id="26" name="Shape 19"/>
          <p:cNvSpPr/>
          <p:nvPr/>
        </p:nvSpPr>
        <p:spPr>
          <a:xfrm>
            <a:off x="3246120" y="2560320"/>
            <a:ext cx="2606040" cy="1325880"/>
          </a:xfrm>
          <a:prstGeom prst="roundRect">
            <a:avLst>
              <a:gd name="adj" fmla="val 5517"/>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27" name="Shape 20"/>
          <p:cNvSpPr/>
          <p:nvPr/>
        </p:nvSpPr>
        <p:spPr>
          <a:xfrm>
            <a:off x="3429000" y="2743200"/>
            <a:ext cx="457200" cy="457200"/>
          </a:xfrm>
          <a:prstGeom prst="ellipse">
            <a:avLst/>
          </a:prstGeom>
          <a:solidFill>
            <a:srgbClr val="5E6EF2"/>
          </a:solidFill>
          <a:ln w="12700">
            <a:solidFill>
              <a:srgbClr val="5E6EF2"/>
            </a:solidFill>
            <a:prstDash val="solid"/>
          </a:ln>
        </p:spPr>
      </p:sp>
      <p:pic>
        <p:nvPicPr>
          <p:cNvPr id="28" name="Image 4" descr="preencoded.png">    </p:cNvPr>
          <p:cNvPicPr>
            <a:picLocks noChangeAspect="1"/>
          </p:cNvPicPr>
          <p:nvPr/>
        </p:nvPicPr>
        <p:blipFill>
          <a:blip r:embed="rId5"/>
          <a:stretch>
            <a:fillRect/>
          </a:stretch>
        </p:blipFill>
        <p:spPr>
          <a:xfrm>
            <a:off x="3547872" y="2862072"/>
            <a:ext cx="219456" cy="219456"/>
          </a:xfrm>
          <a:prstGeom prst="rect">
            <a:avLst/>
          </a:prstGeom>
        </p:spPr>
      </p:pic>
      <p:sp>
        <p:nvSpPr>
          <p:cNvPr id="29" name="Text 21"/>
          <p:cNvSpPr txBox="1"/>
          <p:nvPr/>
        </p:nvSpPr>
        <p:spPr>
          <a:xfrm>
            <a:off x="4023360" y="2743200"/>
            <a:ext cx="1737360" cy="457200"/>
          </a:xfrm>
          <a:prstGeom prst="rect">
            <a:avLst/>
          </a:prstGeom>
          <a:noFill/>
          <a:ln/>
        </p:spPr>
        <p:txBody>
          <a:bodyPr wrap="square" lIns="0" tIns="0" rIns="0" bIns="0" rtlCol="0" anchor="ctr"/>
          <a:lstStyle/>
          <a:p>
            <a:pPr indent="0" marL="0">
              <a:buNone/>
            </a:pPr>
            <a:r>
              <a:rPr lang="en-US" sz="1400" b="1" dirty="0">
                <a:solidFill>
                  <a:srgbClr val="0B1020"/>
                </a:solidFill>
                <a:latin typeface="Calibri" pitchFamily="34" charset="0"/>
                <a:ea typeface="Calibri" pitchFamily="34" charset="-122"/>
                <a:cs typeface="Calibri" pitchFamily="34" charset="-120"/>
              </a:rPr>
              <a:t>Scientific operations</a:t>
            </a:r>
            <a:endParaRPr lang="en-US" sz="1400" dirty="0"/>
          </a:p>
        </p:txBody>
      </p:sp>
      <p:sp>
        <p:nvSpPr>
          <p:cNvPr id="30" name="Text 22"/>
          <p:cNvSpPr txBox="1"/>
          <p:nvPr/>
        </p:nvSpPr>
        <p:spPr>
          <a:xfrm>
            <a:off x="3429000" y="3337560"/>
            <a:ext cx="2286000" cy="4572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sqrt, factorial, percentage, pi, e</a:t>
            </a:r>
            <a:endParaRPr lang="en-US" sz="1200" dirty="0"/>
          </a:p>
        </p:txBody>
      </p:sp>
      <p:sp>
        <p:nvSpPr>
          <p:cNvPr id="31" name="Shape 23"/>
          <p:cNvSpPr/>
          <p:nvPr/>
        </p:nvSpPr>
        <p:spPr>
          <a:xfrm>
            <a:off x="6035040" y="2560320"/>
            <a:ext cx="2606040" cy="1325880"/>
          </a:xfrm>
          <a:prstGeom prst="roundRect">
            <a:avLst>
              <a:gd name="adj" fmla="val 5517"/>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32" name="Shape 24"/>
          <p:cNvSpPr/>
          <p:nvPr/>
        </p:nvSpPr>
        <p:spPr>
          <a:xfrm>
            <a:off x="6217920" y="2743200"/>
            <a:ext cx="457200" cy="457200"/>
          </a:xfrm>
          <a:prstGeom prst="ellipse">
            <a:avLst/>
          </a:prstGeom>
          <a:solidFill>
            <a:srgbClr val="5E6EF2"/>
          </a:solidFill>
          <a:ln w="12700">
            <a:solidFill>
              <a:srgbClr val="5E6EF2"/>
            </a:solidFill>
            <a:prstDash val="solid"/>
          </a:ln>
        </p:spPr>
      </p:sp>
      <p:pic>
        <p:nvPicPr>
          <p:cNvPr id="33" name="Image 5" descr="preencoded.png">    </p:cNvPr>
          <p:cNvPicPr>
            <a:picLocks noChangeAspect="1"/>
          </p:cNvPicPr>
          <p:nvPr/>
        </p:nvPicPr>
        <p:blipFill>
          <a:blip r:embed="rId6"/>
          <a:stretch>
            <a:fillRect/>
          </a:stretch>
        </p:blipFill>
        <p:spPr>
          <a:xfrm>
            <a:off x="6336792" y="2862072"/>
            <a:ext cx="219456" cy="219456"/>
          </a:xfrm>
          <a:prstGeom prst="rect">
            <a:avLst/>
          </a:prstGeom>
        </p:spPr>
      </p:pic>
      <p:sp>
        <p:nvSpPr>
          <p:cNvPr id="34" name="Text 25"/>
          <p:cNvSpPr txBox="1"/>
          <p:nvPr/>
        </p:nvSpPr>
        <p:spPr>
          <a:xfrm>
            <a:off x="6812280" y="2743200"/>
            <a:ext cx="1737360" cy="457200"/>
          </a:xfrm>
          <a:prstGeom prst="rect">
            <a:avLst/>
          </a:prstGeom>
          <a:noFill/>
          <a:ln/>
        </p:spPr>
        <p:txBody>
          <a:bodyPr wrap="square" lIns="0" tIns="0" rIns="0" bIns="0" rtlCol="0" anchor="ctr"/>
          <a:lstStyle/>
          <a:p>
            <a:pPr indent="0" marL="0">
              <a:buNone/>
            </a:pPr>
            <a:r>
              <a:rPr lang="en-US" sz="1400" b="1" dirty="0">
                <a:solidFill>
                  <a:srgbClr val="0B1020"/>
                </a:solidFill>
                <a:latin typeface="Calibri" pitchFamily="34" charset="0"/>
                <a:ea typeface="Calibri" pitchFamily="34" charset="-122"/>
                <a:cs typeface="Calibri" pitchFamily="34" charset="-120"/>
              </a:rPr>
              <a:t>History</a:t>
            </a:r>
            <a:endParaRPr lang="en-US" sz="1400" dirty="0"/>
          </a:p>
        </p:txBody>
      </p:sp>
      <p:sp>
        <p:nvSpPr>
          <p:cNvPr id="35" name="Text 26"/>
          <p:cNvSpPr txBox="1"/>
          <p:nvPr/>
        </p:nvSpPr>
        <p:spPr>
          <a:xfrm>
            <a:off x="6217920" y="3337560"/>
            <a:ext cx="2286000" cy="4572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Past calculations should be saved</a:t>
            </a:r>
            <a:endParaRPr lang="en-US" sz="1200" dirty="0"/>
          </a:p>
        </p:txBody>
      </p:sp>
      <p:sp>
        <p:nvSpPr>
          <p:cNvPr id="36" name="Text 27"/>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400" i="1" dirty="0">
                <a:solidFill>
                  <a:srgbClr val="5E6EF2"/>
                </a:solidFill>
                <a:latin typeface="Calibri" pitchFamily="34" charset="0"/>
                <a:ea typeface="Calibri" pitchFamily="34" charset="-122"/>
                <a:cs typeface="Calibri" pitchFamily="34" charset="-120"/>
              </a:rPr>
              <a:t>Need: an efficient way to evaluate any expression correctly, and report errors clearly.</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0B1020"/>
                </a:solidFill>
                <a:latin typeface="Cambria" pitchFamily="34" charset="0"/>
                <a:ea typeface="Cambria" pitchFamily="34" charset="-122"/>
                <a:cs typeface="Cambria" pitchFamily="34" charset="-120"/>
              </a:rPr>
              <a:t>Objectives</a:t>
            </a:r>
            <a:endParaRPr lang="en-US" sz="2800" dirty="0"/>
          </a:p>
        </p:txBody>
      </p:sp>
      <p:sp>
        <p:nvSpPr>
          <p:cNvPr id="3" name="Text 1"/>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Smart Calculator – Stack-Based Expression Evaluator</a:t>
            </a:r>
            <a:endParaRPr lang="en-US" sz="900" dirty="0"/>
          </a:p>
        </p:txBody>
      </p:sp>
      <p:sp>
        <p:nvSpPr>
          <p:cNvPr id="4" name="Text 2"/>
          <p:cNvSpPr txBox="1"/>
          <p:nvPr/>
        </p:nvSpPr>
        <p:spPr>
          <a:xfrm>
            <a:off x="5029200" y="4773168"/>
            <a:ext cx="3657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Vaishnavi Ojha  |  12405374  |  4</a:t>
            </a:r>
            <a:endParaRPr lang="en-US" sz="900" dirty="0"/>
          </a:p>
        </p:txBody>
      </p:sp>
      <p:sp>
        <p:nvSpPr>
          <p:cNvPr id="6" name="Shape 3"/>
          <p:cNvSpPr/>
          <p:nvPr/>
        </p:nvSpPr>
        <p:spPr>
          <a:xfrm>
            <a:off x="457200" y="1097280"/>
            <a:ext cx="4023360" cy="731520"/>
          </a:xfrm>
          <a:prstGeom prst="roundRect">
            <a:avLst>
              <a:gd name="adj" fmla="val 10000"/>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7" name="Shape 4"/>
          <p:cNvSpPr/>
          <p:nvPr/>
        </p:nvSpPr>
        <p:spPr>
          <a:xfrm>
            <a:off x="594360" y="1216152"/>
            <a:ext cx="493776" cy="493776"/>
          </a:xfrm>
          <a:prstGeom prst="ellipse">
            <a:avLst/>
          </a:prstGeom>
          <a:solidFill>
            <a:srgbClr val="5E6EF2"/>
          </a:solidFill>
          <a:ln w="12700">
            <a:solidFill>
              <a:srgbClr val="5E6EF2"/>
            </a:solidFill>
            <a:prstDash val="solid"/>
          </a:ln>
        </p:spPr>
      </p:sp>
      <p:sp>
        <p:nvSpPr>
          <p:cNvPr id="8" name="Text 5"/>
          <p:cNvSpPr txBox="1"/>
          <p:nvPr/>
        </p:nvSpPr>
        <p:spPr>
          <a:xfrm>
            <a:off x="594360" y="121615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6"/>
          <p:cNvSpPr txBox="1"/>
          <p:nvPr/>
        </p:nvSpPr>
        <p:spPr>
          <a:xfrm>
            <a:off x="1234440" y="1143000"/>
            <a:ext cx="3154680" cy="64008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Build an interactive browser-based calculator</a:t>
            </a:r>
            <a:endParaRPr lang="en-US" sz="1350" dirty="0"/>
          </a:p>
        </p:txBody>
      </p:sp>
      <p:sp>
        <p:nvSpPr>
          <p:cNvPr id="10" name="Shape 7"/>
          <p:cNvSpPr/>
          <p:nvPr/>
        </p:nvSpPr>
        <p:spPr>
          <a:xfrm>
            <a:off x="457200" y="1965960"/>
            <a:ext cx="4023360" cy="731520"/>
          </a:xfrm>
          <a:prstGeom prst="roundRect">
            <a:avLst>
              <a:gd name="adj" fmla="val 10000"/>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594360" y="2084832"/>
            <a:ext cx="493776" cy="493776"/>
          </a:xfrm>
          <a:prstGeom prst="ellipse">
            <a:avLst/>
          </a:prstGeom>
          <a:solidFill>
            <a:srgbClr val="10B981"/>
          </a:solidFill>
          <a:ln w="12700">
            <a:solidFill>
              <a:srgbClr val="10B981"/>
            </a:solidFill>
            <a:prstDash val="solid"/>
          </a:ln>
        </p:spPr>
      </p:sp>
      <p:sp>
        <p:nvSpPr>
          <p:cNvPr id="12" name="Text 9"/>
          <p:cNvSpPr txBox="1"/>
          <p:nvPr/>
        </p:nvSpPr>
        <p:spPr>
          <a:xfrm>
            <a:off x="594360" y="208483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0"/>
          <p:cNvSpPr txBox="1"/>
          <p:nvPr/>
        </p:nvSpPr>
        <p:spPr>
          <a:xfrm>
            <a:off x="1234440" y="2011680"/>
            <a:ext cx="3154680" cy="64008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Implement expression evaluation using the Stack DSA</a:t>
            </a:r>
            <a:endParaRPr lang="en-US" sz="1350" dirty="0"/>
          </a:p>
        </p:txBody>
      </p:sp>
      <p:sp>
        <p:nvSpPr>
          <p:cNvPr id="14" name="Shape 11"/>
          <p:cNvSpPr/>
          <p:nvPr/>
        </p:nvSpPr>
        <p:spPr>
          <a:xfrm>
            <a:off x="457200" y="2834640"/>
            <a:ext cx="4023360" cy="731520"/>
          </a:xfrm>
          <a:prstGeom prst="roundRect">
            <a:avLst>
              <a:gd name="adj" fmla="val 10000"/>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15" name="Shape 12"/>
          <p:cNvSpPr/>
          <p:nvPr/>
        </p:nvSpPr>
        <p:spPr>
          <a:xfrm>
            <a:off x="594360" y="2953512"/>
            <a:ext cx="493776" cy="493776"/>
          </a:xfrm>
          <a:prstGeom prst="ellipse">
            <a:avLst/>
          </a:prstGeom>
          <a:solidFill>
            <a:srgbClr val="5E6EF2"/>
          </a:solidFill>
          <a:ln w="12700">
            <a:solidFill>
              <a:srgbClr val="5E6EF2"/>
            </a:solidFill>
            <a:prstDash val="solid"/>
          </a:ln>
        </p:spPr>
      </p:sp>
      <p:sp>
        <p:nvSpPr>
          <p:cNvPr id="16" name="Text 13"/>
          <p:cNvSpPr txBox="1"/>
          <p:nvPr/>
        </p:nvSpPr>
        <p:spPr>
          <a:xfrm>
            <a:off x="594360" y="29535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4"/>
          <p:cNvSpPr txBox="1"/>
          <p:nvPr/>
        </p:nvSpPr>
        <p:spPr>
          <a:xfrm>
            <a:off x="1234440" y="2880360"/>
            <a:ext cx="3154680" cy="64008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Convert infix expressions to postfix notation</a:t>
            </a:r>
            <a:endParaRPr lang="en-US" sz="1350" dirty="0"/>
          </a:p>
        </p:txBody>
      </p:sp>
      <p:sp>
        <p:nvSpPr>
          <p:cNvPr id="18" name="Shape 15"/>
          <p:cNvSpPr/>
          <p:nvPr/>
        </p:nvSpPr>
        <p:spPr>
          <a:xfrm>
            <a:off x="457200" y="3703320"/>
            <a:ext cx="4023360" cy="731520"/>
          </a:xfrm>
          <a:prstGeom prst="roundRect">
            <a:avLst>
              <a:gd name="adj" fmla="val 10000"/>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19" name="Shape 16"/>
          <p:cNvSpPr/>
          <p:nvPr/>
        </p:nvSpPr>
        <p:spPr>
          <a:xfrm>
            <a:off x="594360" y="3822192"/>
            <a:ext cx="493776" cy="493776"/>
          </a:xfrm>
          <a:prstGeom prst="ellipse">
            <a:avLst/>
          </a:prstGeom>
          <a:solidFill>
            <a:srgbClr val="10B981"/>
          </a:solidFill>
          <a:ln w="12700">
            <a:solidFill>
              <a:srgbClr val="10B981"/>
            </a:solidFill>
            <a:prstDash val="solid"/>
          </a:ln>
        </p:spPr>
      </p:sp>
      <p:sp>
        <p:nvSpPr>
          <p:cNvPr id="20" name="Text 17"/>
          <p:cNvSpPr txBox="1"/>
          <p:nvPr/>
        </p:nvSpPr>
        <p:spPr>
          <a:xfrm>
            <a:off x="594360" y="382219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1" name="Text 18"/>
          <p:cNvSpPr txBox="1"/>
          <p:nvPr/>
        </p:nvSpPr>
        <p:spPr>
          <a:xfrm>
            <a:off x="1234440" y="3749040"/>
            <a:ext cx="3154680" cy="64008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Handle operator precedence and associativity</a:t>
            </a:r>
            <a:endParaRPr lang="en-US" sz="1350" dirty="0"/>
          </a:p>
        </p:txBody>
      </p:sp>
      <p:sp>
        <p:nvSpPr>
          <p:cNvPr id="22" name="Shape 19"/>
          <p:cNvSpPr/>
          <p:nvPr/>
        </p:nvSpPr>
        <p:spPr>
          <a:xfrm>
            <a:off x="4663440" y="1097280"/>
            <a:ext cx="4023360" cy="731520"/>
          </a:xfrm>
          <a:prstGeom prst="roundRect">
            <a:avLst>
              <a:gd name="adj" fmla="val 10000"/>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23" name="Shape 20"/>
          <p:cNvSpPr/>
          <p:nvPr/>
        </p:nvSpPr>
        <p:spPr>
          <a:xfrm>
            <a:off x="4800600" y="1216152"/>
            <a:ext cx="493776" cy="493776"/>
          </a:xfrm>
          <a:prstGeom prst="ellipse">
            <a:avLst/>
          </a:prstGeom>
          <a:solidFill>
            <a:srgbClr val="5E6EF2"/>
          </a:solidFill>
          <a:ln w="12700">
            <a:solidFill>
              <a:srgbClr val="5E6EF2"/>
            </a:solidFill>
            <a:prstDash val="solid"/>
          </a:ln>
        </p:spPr>
      </p:sp>
      <p:sp>
        <p:nvSpPr>
          <p:cNvPr id="24" name="Text 21"/>
          <p:cNvSpPr txBox="1"/>
          <p:nvPr/>
        </p:nvSpPr>
        <p:spPr>
          <a:xfrm>
            <a:off x="4800600" y="121615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5" name="Text 22"/>
          <p:cNvSpPr txBox="1"/>
          <p:nvPr/>
        </p:nvSpPr>
        <p:spPr>
          <a:xfrm>
            <a:off x="5440680" y="1143000"/>
            <a:ext cx="3154680" cy="64008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Integrate a C++ evaluation engine using WebAssembly</a:t>
            </a:r>
            <a:endParaRPr lang="en-US" sz="1350" dirty="0"/>
          </a:p>
        </p:txBody>
      </p:sp>
      <p:sp>
        <p:nvSpPr>
          <p:cNvPr id="26" name="Shape 23"/>
          <p:cNvSpPr/>
          <p:nvPr/>
        </p:nvSpPr>
        <p:spPr>
          <a:xfrm>
            <a:off x="4663440" y="1965960"/>
            <a:ext cx="4023360" cy="731520"/>
          </a:xfrm>
          <a:prstGeom prst="roundRect">
            <a:avLst>
              <a:gd name="adj" fmla="val 10000"/>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27" name="Shape 24"/>
          <p:cNvSpPr/>
          <p:nvPr/>
        </p:nvSpPr>
        <p:spPr>
          <a:xfrm>
            <a:off x="4800600" y="2084832"/>
            <a:ext cx="493776" cy="493776"/>
          </a:xfrm>
          <a:prstGeom prst="ellipse">
            <a:avLst/>
          </a:prstGeom>
          <a:solidFill>
            <a:srgbClr val="10B981"/>
          </a:solidFill>
          <a:ln w="12700">
            <a:solidFill>
              <a:srgbClr val="10B981"/>
            </a:solidFill>
            <a:prstDash val="solid"/>
          </a:ln>
        </p:spPr>
      </p:sp>
      <p:sp>
        <p:nvSpPr>
          <p:cNvPr id="28" name="Text 25"/>
          <p:cNvSpPr txBox="1"/>
          <p:nvPr/>
        </p:nvSpPr>
        <p:spPr>
          <a:xfrm>
            <a:off x="4800600" y="208483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9" name="Text 26"/>
          <p:cNvSpPr txBox="1"/>
          <p:nvPr/>
        </p:nvSpPr>
        <p:spPr>
          <a:xfrm>
            <a:off x="5440680" y="2011680"/>
            <a:ext cx="3154680" cy="64008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Provide history and variable management</a:t>
            </a:r>
            <a:endParaRPr lang="en-US" sz="1350" dirty="0"/>
          </a:p>
        </p:txBody>
      </p:sp>
      <p:sp>
        <p:nvSpPr>
          <p:cNvPr id="30" name="Shape 27"/>
          <p:cNvSpPr/>
          <p:nvPr/>
        </p:nvSpPr>
        <p:spPr>
          <a:xfrm>
            <a:off x="4663440" y="2834640"/>
            <a:ext cx="4023360" cy="731520"/>
          </a:xfrm>
          <a:prstGeom prst="roundRect">
            <a:avLst>
              <a:gd name="adj" fmla="val 10000"/>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31" name="Shape 28"/>
          <p:cNvSpPr/>
          <p:nvPr/>
        </p:nvSpPr>
        <p:spPr>
          <a:xfrm>
            <a:off x="4800600" y="2953512"/>
            <a:ext cx="493776" cy="493776"/>
          </a:xfrm>
          <a:prstGeom prst="ellipse">
            <a:avLst/>
          </a:prstGeom>
          <a:solidFill>
            <a:srgbClr val="5E6EF2"/>
          </a:solidFill>
          <a:ln w="12700">
            <a:solidFill>
              <a:srgbClr val="5E6EF2"/>
            </a:solidFill>
            <a:prstDash val="solid"/>
          </a:ln>
        </p:spPr>
      </p:sp>
      <p:sp>
        <p:nvSpPr>
          <p:cNvPr id="32" name="Text 29"/>
          <p:cNvSpPr txBox="1"/>
          <p:nvPr/>
        </p:nvSpPr>
        <p:spPr>
          <a:xfrm>
            <a:off x="4800600" y="29535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7</a:t>
            </a:r>
            <a:endParaRPr lang="en-US" sz="1800" dirty="0"/>
          </a:p>
        </p:txBody>
      </p:sp>
      <p:sp>
        <p:nvSpPr>
          <p:cNvPr id="33" name="Text 30"/>
          <p:cNvSpPr txBox="1"/>
          <p:nvPr/>
        </p:nvSpPr>
        <p:spPr>
          <a:xfrm>
            <a:off x="5440680" y="2880360"/>
            <a:ext cx="3154680" cy="640080"/>
          </a:xfrm>
          <a:prstGeom prst="rect">
            <a:avLst/>
          </a:prstGeom>
          <a:noFill/>
          <a:ln/>
        </p:spPr>
        <p:txBody>
          <a:bodyPr wrap="square" lIns="0" tIns="0" rIns="0" bIns="0" rtlCol="0" anchor="ctr"/>
          <a:lstStyle/>
          <a:p>
            <a:pPr indent="0" marL="0">
              <a:buNone/>
            </a:pPr>
            <a:r>
              <a:rPr lang="en-US" sz="1350" dirty="0">
                <a:solidFill>
                  <a:srgbClr val="1F2937"/>
                </a:solidFill>
                <a:latin typeface="Calibri" pitchFamily="34" charset="0"/>
                <a:ea typeface="Calibri" pitchFamily="34" charset="-122"/>
                <a:cs typeface="Calibri" pitchFamily="34" charset="-120"/>
              </a:rPr>
              <a:t>Provide proper error handling</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0B1020"/>
                </a:solidFill>
                <a:latin typeface="Cambria" pitchFamily="34" charset="0"/>
                <a:ea typeface="Cambria" pitchFamily="34" charset="-122"/>
                <a:cs typeface="Cambria" pitchFamily="34" charset="-120"/>
              </a:rPr>
              <a:t>Technology Stack</a:t>
            </a:r>
            <a:endParaRPr lang="en-US" sz="2800" dirty="0"/>
          </a:p>
        </p:txBody>
      </p:sp>
      <p:sp>
        <p:nvSpPr>
          <p:cNvPr id="3" name="Text 1"/>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Smart Calculator – Stack-Based Expression Evaluator</a:t>
            </a:r>
            <a:endParaRPr lang="en-US" sz="900" dirty="0"/>
          </a:p>
        </p:txBody>
      </p:sp>
      <p:sp>
        <p:nvSpPr>
          <p:cNvPr id="4" name="Text 2"/>
          <p:cNvSpPr txBox="1"/>
          <p:nvPr/>
        </p:nvSpPr>
        <p:spPr>
          <a:xfrm>
            <a:off x="5029200" y="4773168"/>
            <a:ext cx="3657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Vaishnavi Ojha  |  12405374  |  5</a:t>
            </a:r>
            <a:endParaRPr lang="en-US" sz="900" dirty="0"/>
          </a:p>
        </p:txBody>
      </p:sp>
      <p:sp>
        <p:nvSpPr>
          <p:cNvPr id="6" name="Shape 3"/>
          <p:cNvSpPr/>
          <p:nvPr/>
        </p:nvSpPr>
        <p:spPr>
          <a:xfrm>
            <a:off x="457200" y="1097280"/>
            <a:ext cx="1920240" cy="1554480"/>
          </a:xfrm>
          <a:prstGeom prst="roundRect">
            <a:avLst>
              <a:gd name="adj" fmla="val 4706"/>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7" name="Shape 4"/>
          <p:cNvSpPr/>
          <p:nvPr/>
        </p:nvSpPr>
        <p:spPr>
          <a:xfrm>
            <a:off x="1143000" y="1234440"/>
            <a:ext cx="548640" cy="548640"/>
          </a:xfrm>
          <a:prstGeom prst="ellipse">
            <a:avLst/>
          </a:prstGeom>
          <a:solidFill>
            <a:srgbClr val="5E6EF2"/>
          </a:solidFill>
          <a:ln w="12700">
            <a:solidFill>
              <a:srgbClr val="5E6EF2"/>
            </a:solidFill>
            <a:prstDash val="solid"/>
          </a:ln>
        </p:spPr>
      </p:sp>
      <p:pic>
        <p:nvPicPr>
          <p:cNvPr id="8" name="Image 0" descr="preencoded.png">    </p:cNvPr>
          <p:cNvPicPr>
            <a:picLocks noChangeAspect="1"/>
          </p:cNvPicPr>
          <p:nvPr/>
        </p:nvPicPr>
        <p:blipFill>
          <a:blip r:embed="rId1"/>
          <a:stretch>
            <a:fillRect/>
          </a:stretch>
        </p:blipFill>
        <p:spPr>
          <a:xfrm>
            <a:off x="1285646" y="1377086"/>
            <a:ext cx="263347" cy="263347"/>
          </a:xfrm>
          <a:prstGeom prst="rect">
            <a:avLst/>
          </a:prstGeom>
        </p:spPr>
      </p:pic>
      <p:sp>
        <p:nvSpPr>
          <p:cNvPr id="9" name="Text 5"/>
          <p:cNvSpPr txBox="1"/>
          <p:nvPr/>
        </p:nvSpPr>
        <p:spPr>
          <a:xfrm>
            <a:off x="548640" y="1874520"/>
            <a:ext cx="1737360" cy="274320"/>
          </a:xfrm>
          <a:prstGeom prst="rect">
            <a:avLst/>
          </a:prstGeom>
          <a:noFill/>
          <a:ln/>
        </p:spPr>
        <p:txBody>
          <a:bodyPr wrap="square" lIns="0" tIns="0" rIns="0" bIns="0" rtlCol="0" anchor="ctr"/>
          <a:lstStyle/>
          <a:p>
            <a:pPr algn="ctr" indent="0" marL="0">
              <a:buNone/>
            </a:pPr>
            <a:r>
              <a:rPr lang="en-US" sz="1400" b="1" dirty="0">
                <a:solidFill>
                  <a:srgbClr val="0B1020"/>
                </a:solidFill>
                <a:latin typeface="Calibri" pitchFamily="34" charset="0"/>
                <a:ea typeface="Calibri" pitchFamily="34" charset="-122"/>
                <a:cs typeface="Calibri" pitchFamily="34" charset="-120"/>
              </a:rPr>
              <a:t>C++</a:t>
            </a:r>
            <a:endParaRPr lang="en-US" sz="1400" dirty="0"/>
          </a:p>
        </p:txBody>
      </p:sp>
      <p:sp>
        <p:nvSpPr>
          <p:cNvPr id="10" name="Text 6"/>
          <p:cNvSpPr txBox="1"/>
          <p:nvPr/>
        </p:nvSpPr>
        <p:spPr>
          <a:xfrm>
            <a:off x="594360" y="2148840"/>
            <a:ext cx="1645920" cy="411480"/>
          </a:xfrm>
          <a:prstGeom prst="rect">
            <a:avLst/>
          </a:prstGeom>
          <a:noFill/>
          <a:ln/>
        </p:spPr>
        <p:txBody>
          <a:bodyPr wrap="square" lIns="0" tIns="0" rIns="0" bIns="0" rtlCol="0" anchor="t"/>
          <a:lstStyle/>
          <a:p>
            <a:pPr algn="ctr" indent="0" marL="0">
              <a:buNone/>
            </a:pPr>
            <a:r>
              <a:rPr lang="en-US" sz="1050" dirty="0">
                <a:solidFill>
                  <a:srgbClr val="6B7280"/>
                </a:solidFill>
                <a:latin typeface="Calibri" pitchFamily="34" charset="0"/>
                <a:ea typeface="Calibri" pitchFamily="34" charset="-122"/>
                <a:cs typeface="Calibri" pitchFamily="34" charset="-120"/>
              </a:rPr>
              <a:t>Core evaluator, C++17</a:t>
            </a:r>
            <a:endParaRPr lang="en-US" sz="1050" dirty="0"/>
          </a:p>
        </p:txBody>
      </p:sp>
      <p:sp>
        <p:nvSpPr>
          <p:cNvPr id="11" name="Shape 7"/>
          <p:cNvSpPr/>
          <p:nvPr/>
        </p:nvSpPr>
        <p:spPr>
          <a:xfrm>
            <a:off x="2542032" y="1097280"/>
            <a:ext cx="1920240" cy="1554480"/>
          </a:xfrm>
          <a:prstGeom prst="roundRect">
            <a:avLst>
              <a:gd name="adj" fmla="val 4706"/>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12" name="Shape 8"/>
          <p:cNvSpPr/>
          <p:nvPr/>
        </p:nvSpPr>
        <p:spPr>
          <a:xfrm>
            <a:off x="3227832" y="1234440"/>
            <a:ext cx="548640" cy="548640"/>
          </a:xfrm>
          <a:prstGeom prst="ellipse">
            <a:avLst/>
          </a:prstGeom>
          <a:solidFill>
            <a:srgbClr val="10B981"/>
          </a:solidFill>
          <a:ln w="12700">
            <a:solidFill>
              <a:srgbClr val="10B981"/>
            </a:solidFill>
            <a:prstDash val="solid"/>
          </a:ln>
        </p:spPr>
      </p:sp>
      <p:pic>
        <p:nvPicPr>
          <p:cNvPr id="13" name="Image 1" descr="preencoded.png">    </p:cNvPr>
          <p:cNvPicPr>
            <a:picLocks noChangeAspect="1"/>
          </p:cNvPicPr>
          <p:nvPr/>
        </p:nvPicPr>
        <p:blipFill>
          <a:blip r:embed="rId2"/>
          <a:stretch>
            <a:fillRect/>
          </a:stretch>
        </p:blipFill>
        <p:spPr>
          <a:xfrm>
            <a:off x="3370478" y="1377086"/>
            <a:ext cx="263347" cy="263347"/>
          </a:xfrm>
          <a:prstGeom prst="rect">
            <a:avLst/>
          </a:prstGeom>
        </p:spPr>
      </p:pic>
      <p:sp>
        <p:nvSpPr>
          <p:cNvPr id="14" name="Text 9"/>
          <p:cNvSpPr txBox="1"/>
          <p:nvPr/>
        </p:nvSpPr>
        <p:spPr>
          <a:xfrm>
            <a:off x="2633472" y="1874520"/>
            <a:ext cx="1737360" cy="274320"/>
          </a:xfrm>
          <a:prstGeom prst="rect">
            <a:avLst/>
          </a:prstGeom>
          <a:noFill/>
          <a:ln/>
        </p:spPr>
        <p:txBody>
          <a:bodyPr wrap="square" lIns="0" tIns="0" rIns="0" bIns="0" rtlCol="0" anchor="ctr"/>
          <a:lstStyle/>
          <a:p>
            <a:pPr algn="ctr" indent="0" marL="0">
              <a:buNone/>
            </a:pPr>
            <a:r>
              <a:rPr lang="en-US" sz="1400" b="1" dirty="0">
                <a:solidFill>
                  <a:srgbClr val="0B1020"/>
                </a:solidFill>
                <a:latin typeface="Calibri" pitchFamily="34" charset="0"/>
                <a:ea typeface="Calibri" pitchFamily="34" charset="-122"/>
                <a:cs typeface="Calibri" pitchFamily="34" charset="-120"/>
              </a:rPr>
              <a:t>DSA</a:t>
            </a:r>
            <a:endParaRPr lang="en-US" sz="1400" dirty="0"/>
          </a:p>
        </p:txBody>
      </p:sp>
      <p:sp>
        <p:nvSpPr>
          <p:cNvPr id="15" name="Text 10"/>
          <p:cNvSpPr txBox="1"/>
          <p:nvPr/>
        </p:nvSpPr>
        <p:spPr>
          <a:xfrm>
            <a:off x="2679192" y="2148840"/>
            <a:ext cx="1645920" cy="411480"/>
          </a:xfrm>
          <a:prstGeom prst="rect">
            <a:avLst/>
          </a:prstGeom>
          <a:noFill/>
          <a:ln/>
        </p:spPr>
        <p:txBody>
          <a:bodyPr wrap="square" lIns="0" tIns="0" rIns="0" bIns="0" rtlCol="0" anchor="t"/>
          <a:lstStyle/>
          <a:p>
            <a:pPr algn="ctr" indent="0" marL="0">
              <a:buNone/>
            </a:pPr>
            <a:r>
              <a:rPr lang="en-US" sz="1050" dirty="0">
                <a:solidFill>
                  <a:srgbClr val="6B7280"/>
                </a:solidFill>
                <a:latin typeface="Calibri" pitchFamily="34" charset="0"/>
                <a:ea typeface="Calibri" pitchFamily="34" charset="-122"/>
                <a:cs typeface="Calibri" pitchFamily="34" charset="-120"/>
              </a:rPr>
              <a:t>Tokenizing, parsing, precedence</a:t>
            </a:r>
            <a:endParaRPr lang="en-US" sz="1050" dirty="0"/>
          </a:p>
        </p:txBody>
      </p:sp>
      <p:sp>
        <p:nvSpPr>
          <p:cNvPr id="16" name="Shape 11"/>
          <p:cNvSpPr/>
          <p:nvPr/>
        </p:nvSpPr>
        <p:spPr>
          <a:xfrm>
            <a:off x="4626864" y="1097280"/>
            <a:ext cx="1920240" cy="1554480"/>
          </a:xfrm>
          <a:prstGeom prst="roundRect">
            <a:avLst>
              <a:gd name="adj" fmla="val 4706"/>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17" name="Shape 12"/>
          <p:cNvSpPr/>
          <p:nvPr/>
        </p:nvSpPr>
        <p:spPr>
          <a:xfrm>
            <a:off x="5312664" y="1234440"/>
            <a:ext cx="548640" cy="548640"/>
          </a:xfrm>
          <a:prstGeom prst="ellipse">
            <a:avLst/>
          </a:prstGeom>
          <a:solidFill>
            <a:srgbClr val="5E6EF2"/>
          </a:solidFill>
          <a:ln w="12700">
            <a:solidFill>
              <a:srgbClr val="5E6EF2"/>
            </a:solidFill>
            <a:prstDash val="solid"/>
          </a:ln>
        </p:spPr>
      </p:sp>
      <p:pic>
        <p:nvPicPr>
          <p:cNvPr id="18" name="Image 2" descr="preencoded.png">    </p:cNvPr>
          <p:cNvPicPr>
            <a:picLocks noChangeAspect="1"/>
          </p:cNvPicPr>
          <p:nvPr/>
        </p:nvPicPr>
        <p:blipFill>
          <a:blip r:embed="rId3"/>
          <a:stretch>
            <a:fillRect/>
          </a:stretch>
        </p:blipFill>
        <p:spPr>
          <a:xfrm>
            <a:off x="5455310" y="1377086"/>
            <a:ext cx="263347" cy="263347"/>
          </a:xfrm>
          <a:prstGeom prst="rect">
            <a:avLst/>
          </a:prstGeom>
        </p:spPr>
      </p:pic>
      <p:sp>
        <p:nvSpPr>
          <p:cNvPr id="19" name="Text 13"/>
          <p:cNvSpPr txBox="1"/>
          <p:nvPr/>
        </p:nvSpPr>
        <p:spPr>
          <a:xfrm>
            <a:off x="4718304" y="1874520"/>
            <a:ext cx="1737360" cy="274320"/>
          </a:xfrm>
          <a:prstGeom prst="rect">
            <a:avLst/>
          </a:prstGeom>
          <a:noFill/>
          <a:ln/>
        </p:spPr>
        <p:txBody>
          <a:bodyPr wrap="square" lIns="0" tIns="0" rIns="0" bIns="0" rtlCol="0" anchor="ctr"/>
          <a:lstStyle/>
          <a:p>
            <a:pPr algn="ctr" indent="0" marL="0">
              <a:buNone/>
            </a:pPr>
            <a:r>
              <a:rPr lang="en-US" sz="1400" b="1" dirty="0">
                <a:solidFill>
                  <a:srgbClr val="0B1020"/>
                </a:solidFill>
                <a:latin typeface="Calibri" pitchFamily="34" charset="0"/>
                <a:ea typeface="Calibri" pitchFamily="34" charset="-122"/>
                <a:cs typeface="Calibri" pitchFamily="34" charset="-120"/>
              </a:rPr>
              <a:t>Stack</a:t>
            </a:r>
            <a:endParaRPr lang="en-US" sz="1400" dirty="0"/>
          </a:p>
        </p:txBody>
      </p:sp>
      <p:sp>
        <p:nvSpPr>
          <p:cNvPr id="20" name="Text 14"/>
          <p:cNvSpPr txBox="1"/>
          <p:nvPr/>
        </p:nvSpPr>
        <p:spPr>
          <a:xfrm>
            <a:off x="4764024" y="2148840"/>
            <a:ext cx="1645920" cy="411480"/>
          </a:xfrm>
          <a:prstGeom prst="rect">
            <a:avLst/>
          </a:prstGeom>
          <a:noFill/>
          <a:ln/>
        </p:spPr>
        <p:txBody>
          <a:bodyPr wrap="square" lIns="0" tIns="0" rIns="0" bIns="0" rtlCol="0" anchor="t"/>
          <a:lstStyle/>
          <a:p>
            <a:pPr algn="ctr" indent="0" marL="0">
              <a:buNone/>
            </a:pPr>
            <a:r>
              <a:rPr lang="en-US" sz="1050" dirty="0">
                <a:solidFill>
                  <a:srgbClr val="6B7280"/>
                </a:solidFill>
                <a:latin typeface="Calibri" pitchFamily="34" charset="0"/>
                <a:ea typeface="Calibri" pitchFamily="34" charset="-122"/>
                <a:cs typeface="Calibri" pitchFamily="34" charset="-120"/>
              </a:rPr>
              <a:t>std::stack for operators and values</a:t>
            </a:r>
            <a:endParaRPr lang="en-US" sz="1050" dirty="0"/>
          </a:p>
        </p:txBody>
      </p:sp>
      <p:sp>
        <p:nvSpPr>
          <p:cNvPr id="21" name="Shape 15"/>
          <p:cNvSpPr/>
          <p:nvPr/>
        </p:nvSpPr>
        <p:spPr>
          <a:xfrm>
            <a:off x="6711696" y="1097280"/>
            <a:ext cx="1920240" cy="1554480"/>
          </a:xfrm>
          <a:prstGeom prst="roundRect">
            <a:avLst>
              <a:gd name="adj" fmla="val 4706"/>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22" name="Shape 16"/>
          <p:cNvSpPr/>
          <p:nvPr/>
        </p:nvSpPr>
        <p:spPr>
          <a:xfrm>
            <a:off x="7397496" y="1234440"/>
            <a:ext cx="548640" cy="548640"/>
          </a:xfrm>
          <a:prstGeom prst="ellipse">
            <a:avLst/>
          </a:prstGeom>
          <a:solidFill>
            <a:srgbClr val="10B981"/>
          </a:solidFill>
          <a:ln w="12700">
            <a:solidFill>
              <a:srgbClr val="10B981"/>
            </a:solidFill>
            <a:prstDash val="solid"/>
          </a:ln>
        </p:spPr>
      </p:sp>
      <p:pic>
        <p:nvPicPr>
          <p:cNvPr id="23" name="Image 3" descr="preencoded.png">    </p:cNvPr>
          <p:cNvPicPr>
            <a:picLocks noChangeAspect="1"/>
          </p:cNvPicPr>
          <p:nvPr/>
        </p:nvPicPr>
        <p:blipFill>
          <a:blip r:embed="rId4"/>
          <a:stretch>
            <a:fillRect/>
          </a:stretch>
        </p:blipFill>
        <p:spPr>
          <a:xfrm>
            <a:off x="7540142" y="1377086"/>
            <a:ext cx="263347" cy="263347"/>
          </a:xfrm>
          <a:prstGeom prst="rect">
            <a:avLst/>
          </a:prstGeom>
        </p:spPr>
      </p:pic>
      <p:sp>
        <p:nvSpPr>
          <p:cNvPr id="24" name="Text 17"/>
          <p:cNvSpPr txBox="1"/>
          <p:nvPr/>
        </p:nvSpPr>
        <p:spPr>
          <a:xfrm>
            <a:off x="6803136" y="1874520"/>
            <a:ext cx="1737360" cy="274320"/>
          </a:xfrm>
          <a:prstGeom prst="rect">
            <a:avLst/>
          </a:prstGeom>
          <a:noFill/>
          <a:ln/>
        </p:spPr>
        <p:txBody>
          <a:bodyPr wrap="square" lIns="0" tIns="0" rIns="0" bIns="0" rtlCol="0" anchor="ctr"/>
          <a:lstStyle/>
          <a:p>
            <a:pPr algn="ctr" indent="0" marL="0">
              <a:buNone/>
            </a:pPr>
            <a:r>
              <a:rPr lang="en-US" sz="1400" b="1" dirty="0">
                <a:solidFill>
                  <a:srgbClr val="0B1020"/>
                </a:solidFill>
                <a:latin typeface="Calibri" pitchFamily="34" charset="0"/>
                <a:ea typeface="Calibri" pitchFamily="34" charset="-122"/>
                <a:cs typeface="Calibri" pitchFamily="34" charset="-120"/>
              </a:rPr>
              <a:t>WebAssembly</a:t>
            </a:r>
            <a:endParaRPr lang="en-US" sz="1400" dirty="0"/>
          </a:p>
        </p:txBody>
      </p:sp>
      <p:sp>
        <p:nvSpPr>
          <p:cNvPr id="25" name="Text 18"/>
          <p:cNvSpPr txBox="1"/>
          <p:nvPr/>
        </p:nvSpPr>
        <p:spPr>
          <a:xfrm>
            <a:off x="6848856" y="2148840"/>
            <a:ext cx="1645920" cy="411480"/>
          </a:xfrm>
          <a:prstGeom prst="rect">
            <a:avLst/>
          </a:prstGeom>
          <a:noFill/>
          <a:ln/>
        </p:spPr>
        <p:txBody>
          <a:bodyPr wrap="square" lIns="0" tIns="0" rIns="0" bIns="0" rtlCol="0" anchor="t"/>
          <a:lstStyle/>
          <a:p>
            <a:pPr algn="ctr" indent="0" marL="0">
              <a:buNone/>
            </a:pPr>
            <a:r>
              <a:rPr lang="en-US" sz="1050" dirty="0">
                <a:solidFill>
                  <a:srgbClr val="6B7280"/>
                </a:solidFill>
                <a:latin typeface="Calibri" pitchFamily="34" charset="0"/>
                <a:ea typeface="Calibri" pitchFamily="34" charset="-122"/>
                <a:cs typeface="Calibri" pitchFamily="34" charset="-120"/>
              </a:rPr>
              <a:t>Runs compiled C++ in the browser</a:t>
            </a:r>
            <a:endParaRPr lang="en-US" sz="1050" dirty="0"/>
          </a:p>
        </p:txBody>
      </p:sp>
      <p:sp>
        <p:nvSpPr>
          <p:cNvPr id="26" name="Shape 19"/>
          <p:cNvSpPr/>
          <p:nvPr/>
        </p:nvSpPr>
        <p:spPr>
          <a:xfrm>
            <a:off x="457200" y="2834640"/>
            <a:ext cx="1920240" cy="1554480"/>
          </a:xfrm>
          <a:prstGeom prst="roundRect">
            <a:avLst>
              <a:gd name="adj" fmla="val 4706"/>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27" name="Shape 20"/>
          <p:cNvSpPr/>
          <p:nvPr/>
        </p:nvSpPr>
        <p:spPr>
          <a:xfrm>
            <a:off x="1143000" y="2971800"/>
            <a:ext cx="548640" cy="548640"/>
          </a:xfrm>
          <a:prstGeom prst="ellipse">
            <a:avLst/>
          </a:prstGeom>
          <a:solidFill>
            <a:srgbClr val="5E6EF2"/>
          </a:solidFill>
          <a:ln w="12700">
            <a:solidFill>
              <a:srgbClr val="5E6EF2"/>
            </a:solidFill>
            <a:prstDash val="solid"/>
          </a:ln>
        </p:spPr>
      </p:sp>
      <p:pic>
        <p:nvPicPr>
          <p:cNvPr id="28" name="Image 4" descr="preencoded.png">    </p:cNvPr>
          <p:cNvPicPr>
            <a:picLocks noChangeAspect="1"/>
          </p:cNvPicPr>
          <p:nvPr/>
        </p:nvPicPr>
        <p:blipFill>
          <a:blip r:embed="rId5"/>
          <a:stretch>
            <a:fillRect/>
          </a:stretch>
        </p:blipFill>
        <p:spPr>
          <a:xfrm>
            <a:off x="1285646" y="3114446"/>
            <a:ext cx="263347" cy="263347"/>
          </a:xfrm>
          <a:prstGeom prst="rect">
            <a:avLst/>
          </a:prstGeom>
        </p:spPr>
      </p:pic>
      <p:sp>
        <p:nvSpPr>
          <p:cNvPr id="29" name="Text 21"/>
          <p:cNvSpPr txBox="1"/>
          <p:nvPr/>
        </p:nvSpPr>
        <p:spPr>
          <a:xfrm>
            <a:off x="548640" y="3611880"/>
            <a:ext cx="1737360" cy="274320"/>
          </a:xfrm>
          <a:prstGeom prst="rect">
            <a:avLst/>
          </a:prstGeom>
          <a:noFill/>
          <a:ln/>
        </p:spPr>
        <p:txBody>
          <a:bodyPr wrap="square" lIns="0" tIns="0" rIns="0" bIns="0" rtlCol="0" anchor="ctr"/>
          <a:lstStyle/>
          <a:p>
            <a:pPr algn="ctr" indent="0" marL="0">
              <a:buNone/>
            </a:pPr>
            <a:r>
              <a:rPr lang="en-US" sz="1400" b="1" dirty="0">
                <a:solidFill>
                  <a:srgbClr val="0B1020"/>
                </a:solidFill>
                <a:latin typeface="Calibri" pitchFamily="34" charset="0"/>
                <a:ea typeface="Calibri" pitchFamily="34" charset="-122"/>
                <a:cs typeface="Calibri" pitchFamily="34" charset="-120"/>
              </a:rPr>
              <a:t>JavaScript</a:t>
            </a:r>
            <a:endParaRPr lang="en-US" sz="1400" dirty="0"/>
          </a:p>
        </p:txBody>
      </p:sp>
      <p:sp>
        <p:nvSpPr>
          <p:cNvPr id="30" name="Text 22"/>
          <p:cNvSpPr txBox="1"/>
          <p:nvPr/>
        </p:nvSpPr>
        <p:spPr>
          <a:xfrm>
            <a:off x="594360" y="3886200"/>
            <a:ext cx="1645920" cy="411480"/>
          </a:xfrm>
          <a:prstGeom prst="rect">
            <a:avLst/>
          </a:prstGeom>
          <a:noFill/>
          <a:ln/>
        </p:spPr>
        <p:txBody>
          <a:bodyPr wrap="square" lIns="0" tIns="0" rIns="0" bIns="0" rtlCol="0" anchor="t"/>
          <a:lstStyle/>
          <a:p>
            <a:pPr algn="ctr" indent="0" marL="0">
              <a:buNone/>
            </a:pPr>
            <a:r>
              <a:rPr lang="en-US" sz="1050" dirty="0">
                <a:solidFill>
                  <a:srgbClr val="6B7280"/>
                </a:solidFill>
                <a:latin typeface="Calibri" pitchFamily="34" charset="0"/>
                <a:ea typeface="Calibri" pitchFamily="34" charset="-122"/>
                <a:cs typeface="Calibri" pitchFamily="34" charset="-120"/>
              </a:rPr>
              <a:t>Loads WASM, handles UI and events</a:t>
            </a:r>
            <a:endParaRPr lang="en-US" sz="1050" dirty="0"/>
          </a:p>
        </p:txBody>
      </p:sp>
      <p:sp>
        <p:nvSpPr>
          <p:cNvPr id="31" name="Shape 23"/>
          <p:cNvSpPr/>
          <p:nvPr/>
        </p:nvSpPr>
        <p:spPr>
          <a:xfrm>
            <a:off x="2542032" y="2834640"/>
            <a:ext cx="1920240" cy="1554480"/>
          </a:xfrm>
          <a:prstGeom prst="roundRect">
            <a:avLst>
              <a:gd name="adj" fmla="val 4706"/>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32" name="Shape 24"/>
          <p:cNvSpPr/>
          <p:nvPr/>
        </p:nvSpPr>
        <p:spPr>
          <a:xfrm>
            <a:off x="3227832" y="2971800"/>
            <a:ext cx="548640" cy="548640"/>
          </a:xfrm>
          <a:prstGeom prst="ellipse">
            <a:avLst/>
          </a:prstGeom>
          <a:solidFill>
            <a:srgbClr val="10B981"/>
          </a:solidFill>
          <a:ln w="12700">
            <a:solidFill>
              <a:srgbClr val="10B981"/>
            </a:solidFill>
            <a:prstDash val="solid"/>
          </a:ln>
        </p:spPr>
      </p:sp>
      <p:pic>
        <p:nvPicPr>
          <p:cNvPr id="33" name="Image 5" descr="preencoded.png">    </p:cNvPr>
          <p:cNvPicPr>
            <a:picLocks noChangeAspect="1"/>
          </p:cNvPicPr>
          <p:nvPr/>
        </p:nvPicPr>
        <p:blipFill>
          <a:blip r:embed="rId6"/>
          <a:stretch>
            <a:fillRect/>
          </a:stretch>
        </p:blipFill>
        <p:spPr>
          <a:xfrm>
            <a:off x="3370478" y="3114446"/>
            <a:ext cx="263347" cy="263347"/>
          </a:xfrm>
          <a:prstGeom prst="rect">
            <a:avLst/>
          </a:prstGeom>
        </p:spPr>
      </p:pic>
      <p:sp>
        <p:nvSpPr>
          <p:cNvPr id="34" name="Text 25"/>
          <p:cNvSpPr txBox="1"/>
          <p:nvPr/>
        </p:nvSpPr>
        <p:spPr>
          <a:xfrm>
            <a:off x="2633472" y="3611880"/>
            <a:ext cx="1737360" cy="274320"/>
          </a:xfrm>
          <a:prstGeom prst="rect">
            <a:avLst/>
          </a:prstGeom>
          <a:noFill/>
          <a:ln/>
        </p:spPr>
        <p:txBody>
          <a:bodyPr wrap="square" lIns="0" tIns="0" rIns="0" bIns="0" rtlCol="0" anchor="ctr"/>
          <a:lstStyle/>
          <a:p>
            <a:pPr algn="ctr" indent="0" marL="0">
              <a:buNone/>
            </a:pPr>
            <a:r>
              <a:rPr lang="en-US" sz="1400" b="1" dirty="0">
                <a:solidFill>
                  <a:srgbClr val="0B1020"/>
                </a:solidFill>
                <a:latin typeface="Calibri" pitchFamily="34" charset="0"/>
                <a:ea typeface="Calibri" pitchFamily="34" charset="-122"/>
                <a:cs typeface="Calibri" pitchFamily="34" charset="-120"/>
              </a:rPr>
              <a:t>HTML5</a:t>
            </a:r>
            <a:endParaRPr lang="en-US" sz="1400" dirty="0"/>
          </a:p>
        </p:txBody>
      </p:sp>
      <p:sp>
        <p:nvSpPr>
          <p:cNvPr id="35" name="Text 26"/>
          <p:cNvSpPr txBox="1"/>
          <p:nvPr/>
        </p:nvSpPr>
        <p:spPr>
          <a:xfrm>
            <a:off x="2679192" y="3886200"/>
            <a:ext cx="1645920" cy="411480"/>
          </a:xfrm>
          <a:prstGeom prst="rect">
            <a:avLst/>
          </a:prstGeom>
          <a:noFill/>
          <a:ln/>
        </p:spPr>
        <p:txBody>
          <a:bodyPr wrap="square" lIns="0" tIns="0" rIns="0" bIns="0" rtlCol="0" anchor="t"/>
          <a:lstStyle/>
          <a:p>
            <a:pPr algn="ctr" indent="0" marL="0">
              <a:buNone/>
            </a:pPr>
            <a:r>
              <a:rPr lang="en-US" sz="1050" dirty="0">
                <a:solidFill>
                  <a:srgbClr val="6B7280"/>
                </a:solidFill>
                <a:latin typeface="Calibri" pitchFamily="34" charset="0"/>
                <a:ea typeface="Calibri" pitchFamily="34" charset="-122"/>
                <a:cs typeface="Calibri" pitchFamily="34" charset="-120"/>
              </a:rPr>
              <a:t>Calculator layout and views</a:t>
            </a:r>
            <a:endParaRPr lang="en-US" sz="1050" dirty="0"/>
          </a:p>
        </p:txBody>
      </p:sp>
      <p:sp>
        <p:nvSpPr>
          <p:cNvPr id="36" name="Shape 27"/>
          <p:cNvSpPr/>
          <p:nvPr/>
        </p:nvSpPr>
        <p:spPr>
          <a:xfrm>
            <a:off x="4626864" y="2834640"/>
            <a:ext cx="1920240" cy="1554480"/>
          </a:xfrm>
          <a:prstGeom prst="roundRect">
            <a:avLst>
              <a:gd name="adj" fmla="val 4706"/>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37" name="Shape 28"/>
          <p:cNvSpPr/>
          <p:nvPr/>
        </p:nvSpPr>
        <p:spPr>
          <a:xfrm>
            <a:off x="5312664" y="2971800"/>
            <a:ext cx="548640" cy="548640"/>
          </a:xfrm>
          <a:prstGeom prst="ellipse">
            <a:avLst/>
          </a:prstGeom>
          <a:solidFill>
            <a:srgbClr val="5E6EF2"/>
          </a:solidFill>
          <a:ln w="12700">
            <a:solidFill>
              <a:srgbClr val="5E6EF2"/>
            </a:solidFill>
            <a:prstDash val="solid"/>
          </a:ln>
        </p:spPr>
      </p:sp>
      <p:pic>
        <p:nvPicPr>
          <p:cNvPr id="38" name="Image 6" descr="preencoded.png">    </p:cNvPr>
          <p:cNvPicPr>
            <a:picLocks noChangeAspect="1"/>
          </p:cNvPicPr>
          <p:nvPr/>
        </p:nvPicPr>
        <p:blipFill>
          <a:blip r:embed="rId7"/>
          <a:stretch>
            <a:fillRect/>
          </a:stretch>
        </p:blipFill>
        <p:spPr>
          <a:xfrm>
            <a:off x="5455310" y="3114446"/>
            <a:ext cx="263347" cy="263347"/>
          </a:xfrm>
          <a:prstGeom prst="rect">
            <a:avLst/>
          </a:prstGeom>
        </p:spPr>
      </p:pic>
      <p:sp>
        <p:nvSpPr>
          <p:cNvPr id="39" name="Text 29"/>
          <p:cNvSpPr txBox="1"/>
          <p:nvPr/>
        </p:nvSpPr>
        <p:spPr>
          <a:xfrm>
            <a:off x="4718304" y="3611880"/>
            <a:ext cx="1737360" cy="274320"/>
          </a:xfrm>
          <a:prstGeom prst="rect">
            <a:avLst/>
          </a:prstGeom>
          <a:noFill/>
          <a:ln/>
        </p:spPr>
        <p:txBody>
          <a:bodyPr wrap="square" lIns="0" tIns="0" rIns="0" bIns="0" rtlCol="0" anchor="ctr"/>
          <a:lstStyle/>
          <a:p>
            <a:pPr algn="ctr" indent="0" marL="0">
              <a:buNone/>
            </a:pPr>
            <a:r>
              <a:rPr lang="en-US" sz="1400" b="1" dirty="0">
                <a:solidFill>
                  <a:srgbClr val="0B1020"/>
                </a:solidFill>
                <a:latin typeface="Calibri" pitchFamily="34" charset="0"/>
                <a:ea typeface="Calibri" pitchFamily="34" charset="-122"/>
                <a:cs typeface="Calibri" pitchFamily="34" charset="-120"/>
              </a:rPr>
              <a:t>CSS3</a:t>
            </a:r>
            <a:endParaRPr lang="en-US" sz="1400" dirty="0"/>
          </a:p>
        </p:txBody>
      </p:sp>
      <p:sp>
        <p:nvSpPr>
          <p:cNvPr id="40" name="Text 30"/>
          <p:cNvSpPr txBox="1"/>
          <p:nvPr/>
        </p:nvSpPr>
        <p:spPr>
          <a:xfrm>
            <a:off x="4764024" y="3886200"/>
            <a:ext cx="1645920" cy="411480"/>
          </a:xfrm>
          <a:prstGeom prst="rect">
            <a:avLst/>
          </a:prstGeom>
          <a:noFill/>
          <a:ln/>
        </p:spPr>
        <p:txBody>
          <a:bodyPr wrap="square" lIns="0" tIns="0" rIns="0" bIns="0" rtlCol="0" anchor="t"/>
          <a:lstStyle/>
          <a:p>
            <a:pPr algn="ctr" indent="0" marL="0">
              <a:buNone/>
            </a:pPr>
            <a:r>
              <a:rPr lang="en-US" sz="1050" dirty="0">
                <a:solidFill>
                  <a:srgbClr val="6B7280"/>
                </a:solidFill>
                <a:latin typeface="Calibri" pitchFamily="34" charset="0"/>
                <a:ea typeface="Calibri" pitchFamily="34" charset="-122"/>
                <a:cs typeface="Calibri" pitchFamily="34" charset="-120"/>
              </a:rPr>
              <a:t>Responsive dark theme, animations</a:t>
            </a:r>
            <a:endParaRPr lang="en-US" sz="1050" dirty="0"/>
          </a:p>
        </p:txBody>
      </p:sp>
      <p:sp>
        <p:nvSpPr>
          <p:cNvPr id="41" name="Shape 31"/>
          <p:cNvSpPr/>
          <p:nvPr/>
        </p:nvSpPr>
        <p:spPr>
          <a:xfrm>
            <a:off x="6711696" y="2834640"/>
            <a:ext cx="1920240" cy="1554480"/>
          </a:xfrm>
          <a:prstGeom prst="roundRect">
            <a:avLst>
              <a:gd name="adj" fmla="val 4706"/>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42" name="Shape 32"/>
          <p:cNvSpPr/>
          <p:nvPr/>
        </p:nvSpPr>
        <p:spPr>
          <a:xfrm>
            <a:off x="7397496" y="2971800"/>
            <a:ext cx="548640" cy="548640"/>
          </a:xfrm>
          <a:prstGeom prst="ellipse">
            <a:avLst/>
          </a:prstGeom>
          <a:solidFill>
            <a:srgbClr val="10B981"/>
          </a:solidFill>
          <a:ln w="12700">
            <a:solidFill>
              <a:srgbClr val="10B981"/>
            </a:solidFill>
            <a:prstDash val="solid"/>
          </a:ln>
        </p:spPr>
      </p:sp>
      <p:pic>
        <p:nvPicPr>
          <p:cNvPr id="43" name="Image 7" descr="preencoded.png">    </p:cNvPr>
          <p:cNvPicPr>
            <a:picLocks noChangeAspect="1"/>
          </p:cNvPicPr>
          <p:nvPr/>
        </p:nvPicPr>
        <p:blipFill>
          <a:blip r:embed="rId8"/>
          <a:stretch>
            <a:fillRect/>
          </a:stretch>
        </p:blipFill>
        <p:spPr>
          <a:xfrm>
            <a:off x="7540142" y="3114446"/>
            <a:ext cx="263347" cy="263347"/>
          </a:xfrm>
          <a:prstGeom prst="rect">
            <a:avLst/>
          </a:prstGeom>
        </p:spPr>
      </p:pic>
      <p:sp>
        <p:nvSpPr>
          <p:cNvPr id="44" name="Text 33"/>
          <p:cNvSpPr txBox="1"/>
          <p:nvPr/>
        </p:nvSpPr>
        <p:spPr>
          <a:xfrm>
            <a:off x="6803136" y="3611880"/>
            <a:ext cx="1737360" cy="274320"/>
          </a:xfrm>
          <a:prstGeom prst="rect">
            <a:avLst/>
          </a:prstGeom>
          <a:noFill/>
          <a:ln/>
        </p:spPr>
        <p:txBody>
          <a:bodyPr wrap="square" lIns="0" tIns="0" rIns="0" bIns="0" rtlCol="0" anchor="ctr"/>
          <a:lstStyle/>
          <a:p>
            <a:pPr algn="ctr" indent="0" marL="0">
              <a:buNone/>
            </a:pPr>
            <a:r>
              <a:rPr lang="en-US" sz="1400" b="1" dirty="0">
                <a:solidFill>
                  <a:srgbClr val="0B1020"/>
                </a:solidFill>
                <a:latin typeface="Calibri" pitchFamily="34" charset="0"/>
                <a:ea typeface="Calibri" pitchFamily="34" charset="-122"/>
                <a:cs typeface="Calibri" pitchFamily="34" charset="-120"/>
              </a:rPr>
              <a:t>LocalStorage</a:t>
            </a:r>
            <a:endParaRPr lang="en-US" sz="1400" dirty="0"/>
          </a:p>
        </p:txBody>
      </p:sp>
      <p:sp>
        <p:nvSpPr>
          <p:cNvPr id="45" name="Text 34"/>
          <p:cNvSpPr txBox="1"/>
          <p:nvPr/>
        </p:nvSpPr>
        <p:spPr>
          <a:xfrm>
            <a:off x="6848856" y="3886200"/>
            <a:ext cx="1645920" cy="411480"/>
          </a:xfrm>
          <a:prstGeom prst="rect">
            <a:avLst/>
          </a:prstGeom>
          <a:noFill/>
          <a:ln/>
        </p:spPr>
        <p:txBody>
          <a:bodyPr wrap="square" lIns="0" tIns="0" rIns="0" bIns="0" rtlCol="0" anchor="t"/>
          <a:lstStyle/>
          <a:p>
            <a:pPr algn="ctr" indent="0" marL="0">
              <a:buNone/>
            </a:pPr>
            <a:r>
              <a:rPr lang="en-US" sz="1050" dirty="0">
                <a:solidFill>
                  <a:srgbClr val="6B7280"/>
                </a:solidFill>
                <a:latin typeface="Calibri" pitchFamily="34" charset="0"/>
                <a:ea typeface="Calibri" pitchFamily="34" charset="-122"/>
                <a:cs typeface="Calibri" pitchFamily="34" charset="-120"/>
              </a:rPr>
              <a:t>Saves history and variables</a:t>
            </a:r>
            <a:endParaRPr lang="en-US" sz="1050" dirty="0"/>
          </a:p>
        </p:txBody>
      </p:sp>
      <p:sp>
        <p:nvSpPr>
          <p:cNvPr id="46" name="Text 35"/>
          <p:cNvSpPr txBox="1"/>
          <p:nvPr/>
        </p:nvSpPr>
        <p:spPr>
          <a:xfrm>
            <a:off x="457200" y="4434840"/>
            <a:ext cx="8229600" cy="27432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No React, Node.js, Python or database is used – only the technologies above.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0B1020"/>
                </a:solidFill>
                <a:latin typeface="Cambria" pitchFamily="34" charset="0"/>
                <a:ea typeface="Cambria" pitchFamily="34" charset="-122"/>
                <a:cs typeface="Cambria" pitchFamily="34" charset="-120"/>
              </a:rPr>
              <a:t>System Architecture / Workflow</a:t>
            </a:r>
            <a:endParaRPr lang="en-US" sz="2800" dirty="0"/>
          </a:p>
        </p:txBody>
      </p:sp>
      <p:sp>
        <p:nvSpPr>
          <p:cNvPr id="3" name="Text 1"/>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Smart Calculator – Stack-Based Expression Evaluator</a:t>
            </a:r>
            <a:endParaRPr lang="en-US" sz="900" dirty="0"/>
          </a:p>
        </p:txBody>
      </p:sp>
      <p:sp>
        <p:nvSpPr>
          <p:cNvPr id="4" name="Text 2"/>
          <p:cNvSpPr txBox="1"/>
          <p:nvPr/>
        </p:nvSpPr>
        <p:spPr>
          <a:xfrm>
            <a:off x="5029200" y="4773168"/>
            <a:ext cx="3657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Vaishnavi Ojha  |  12405374  |  6</a:t>
            </a:r>
            <a:endParaRPr lang="en-US" sz="900" dirty="0"/>
          </a:p>
        </p:txBody>
      </p:sp>
      <p:sp>
        <p:nvSpPr>
          <p:cNvPr id="6" name="Shape 3"/>
          <p:cNvSpPr/>
          <p:nvPr/>
        </p:nvSpPr>
        <p:spPr>
          <a:xfrm>
            <a:off x="502920" y="1828800"/>
            <a:ext cx="1371600" cy="777240"/>
          </a:xfrm>
          <a:prstGeom prst="roundRect">
            <a:avLst>
              <a:gd name="adj" fmla="val 9412"/>
            </a:avLst>
          </a:prstGeom>
          <a:solidFill>
            <a:srgbClr val="FFFFFF"/>
          </a:solidFill>
          <a:ln w="22225">
            <a:solidFill>
              <a:srgbClr val="5E6EF2"/>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502920" y="1828800"/>
            <a:ext cx="1371600" cy="777240"/>
          </a:xfrm>
          <a:prstGeom prst="rect">
            <a:avLst/>
          </a:prstGeom>
          <a:noFill/>
          <a:ln/>
        </p:spPr>
        <p:txBody>
          <a:bodyPr wrap="square" lIns="25400" tIns="25400" rIns="25400" bIns="25400" rtlCol="0" anchor="ctr"/>
          <a:lstStyle/>
          <a:p>
            <a:pPr algn="ctr" indent="0" marL="0">
              <a:buNone/>
            </a:pPr>
            <a:r>
              <a:rPr lang="en-US" sz="1150" b="1" dirty="0">
                <a:solidFill>
                  <a:srgbClr val="0B1020"/>
                </a:solidFill>
                <a:latin typeface="Calibri" pitchFamily="34" charset="0"/>
                <a:ea typeface="Calibri" pitchFamily="34" charset="-122"/>
                <a:cs typeface="Calibri" pitchFamily="34" charset="-120"/>
              </a:rPr>
              <a:t>User Input</a:t>
            </a:r>
            <a:endParaRPr lang="en-US" sz="1150" dirty="0"/>
          </a:p>
          <a:p>
            <a:pPr algn="ctr" indent="0" marL="0">
              <a:buNone/>
            </a:pPr>
            <a:r>
              <a:rPr lang="en-US" sz="900" dirty="0">
                <a:solidFill>
                  <a:srgbClr val="6B7280"/>
                </a:solidFill>
                <a:latin typeface="Calibri" pitchFamily="34" charset="0"/>
                <a:ea typeface="Calibri" pitchFamily="34" charset="-122"/>
                <a:cs typeface="Calibri" pitchFamily="34" charset="-120"/>
              </a:rPr>
              <a:t>Infix expression</a:t>
            </a:r>
            <a:endParaRPr lang="en-US" sz="1150" dirty="0"/>
          </a:p>
        </p:txBody>
      </p:sp>
      <p:sp>
        <p:nvSpPr>
          <p:cNvPr id="8" name="Shape 5"/>
          <p:cNvSpPr/>
          <p:nvPr/>
        </p:nvSpPr>
        <p:spPr>
          <a:xfrm>
            <a:off x="1874520" y="2217420"/>
            <a:ext cx="320040" cy="0"/>
          </a:xfrm>
          <a:prstGeom prst="line">
            <a:avLst/>
          </a:prstGeom>
          <a:noFill/>
          <a:ln w="22225">
            <a:solidFill>
              <a:srgbClr val="0B1020"/>
            </a:solidFill>
            <a:prstDash val="solid"/>
            <a:tailEnd type="triangle"/>
          </a:ln>
        </p:spPr>
      </p:sp>
      <p:sp>
        <p:nvSpPr>
          <p:cNvPr id="9" name="Shape 6"/>
          <p:cNvSpPr/>
          <p:nvPr/>
        </p:nvSpPr>
        <p:spPr>
          <a:xfrm>
            <a:off x="2194560" y="1828800"/>
            <a:ext cx="1371600" cy="777240"/>
          </a:xfrm>
          <a:prstGeom prst="roundRect">
            <a:avLst>
              <a:gd name="adj" fmla="val 9412"/>
            </a:avLst>
          </a:prstGeom>
          <a:solidFill>
            <a:srgbClr val="FFFFFF"/>
          </a:solidFill>
          <a:ln w="22225">
            <a:solidFill>
              <a:srgbClr val="5E6EF2"/>
            </a:solidFill>
            <a:prstDash val="solid"/>
          </a:ln>
          <a:effectLst>
            <a:outerShdw sx="100000" sy="100000" kx="0" ky="0" algn="bl" rotWithShape="0" blurRad="101600" dist="25400" dir="5400000">
              <a:srgbClr val="000000">
                <a:alpha val="12000"/>
              </a:srgbClr>
            </a:outerShdw>
          </a:effectLst>
        </p:spPr>
      </p:sp>
      <p:sp>
        <p:nvSpPr>
          <p:cNvPr id="10" name="Text 7"/>
          <p:cNvSpPr txBox="1"/>
          <p:nvPr/>
        </p:nvSpPr>
        <p:spPr>
          <a:xfrm>
            <a:off x="2194560" y="1828800"/>
            <a:ext cx="1371600" cy="777240"/>
          </a:xfrm>
          <a:prstGeom prst="rect">
            <a:avLst/>
          </a:prstGeom>
          <a:noFill/>
          <a:ln/>
        </p:spPr>
        <p:txBody>
          <a:bodyPr wrap="square" lIns="25400" tIns="25400" rIns="25400" bIns="25400" rtlCol="0" anchor="ctr"/>
          <a:lstStyle/>
          <a:p>
            <a:pPr algn="ctr" indent="0" marL="0">
              <a:buNone/>
            </a:pPr>
            <a:r>
              <a:rPr lang="en-US" sz="1150" b="1" dirty="0">
                <a:solidFill>
                  <a:srgbClr val="0B1020"/>
                </a:solidFill>
                <a:latin typeface="Calibri" pitchFamily="34" charset="0"/>
                <a:ea typeface="Calibri" pitchFamily="34" charset="-122"/>
                <a:cs typeface="Calibri" pitchFamily="34" charset="-120"/>
              </a:rPr>
              <a:t>HTML / CSS / JS</a:t>
            </a:r>
            <a:endParaRPr lang="en-US" sz="1150" dirty="0"/>
          </a:p>
          <a:p>
            <a:pPr algn="ctr" indent="0" marL="0">
              <a:buNone/>
            </a:pPr>
            <a:r>
              <a:rPr lang="en-US" sz="900" dirty="0">
                <a:solidFill>
                  <a:srgbClr val="6B7280"/>
                </a:solidFill>
                <a:latin typeface="Calibri" pitchFamily="34" charset="0"/>
                <a:ea typeface="Calibri" pitchFamily="34" charset="-122"/>
                <a:cs typeface="Calibri" pitchFamily="34" charset="-120"/>
              </a:rPr>
              <a:t>Interface</a:t>
            </a:r>
            <a:endParaRPr lang="en-US" sz="1150" dirty="0"/>
          </a:p>
        </p:txBody>
      </p:sp>
      <p:sp>
        <p:nvSpPr>
          <p:cNvPr id="11" name="Shape 8"/>
          <p:cNvSpPr/>
          <p:nvPr/>
        </p:nvSpPr>
        <p:spPr>
          <a:xfrm>
            <a:off x="3566160" y="2217420"/>
            <a:ext cx="320040" cy="0"/>
          </a:xfrm>
          <a:prstGeom prst="line">
            <a:avLst/>
          </a:prstGeom>
          <a:noFill/>
          <a:ln w="22225">
            <a:solidFill>
              <a:srgbClr val="0B1020"/>
            </a:solidFill>
            <a:prstDash val="solid"/>
            <a:tailEnd type="triangle"/>
          </a:ln>
        </p:spPr>
      </p:sp>
      <p:sp>
        <p:nvSpPr>
          <p:cNvPr id="12" name="Shape 9"/>
          <p:cNvSpPr/>
          <p:nvPr/>
        </p:nvSpPr>
        <p:spPr>
          <a:xfrm>
            <a:off x="3886200" y="1828800"/>
            <a:ext cx="1371600" cy="777240"/>
          </a:xfrm>
          <a:prstGeom prst="roundRect">
            <a:avLst>
              <a:gd name="adj" fmla="val 9412"/>
            </a:avLst>
          </a:prstGeom>
          <a:solidFill>
            <a:srgbClr val="FFFFFF"/>
          </a:solidFill>
          <a:ln w="22225">
            <a:solidFill>
              <a:srgbClr val="5E6EF2"/>
            </a:solidFill>
            <a:prstDash val="solid"/>
          </a:ln>
          <a:effectLst>
            <a:outerShdw sx="100000" sy="100000" kx="0" ky="0" algn="bl" rotWithShape="0" blurRad="101600" dist="25400" dir="5400000">
              <a:srgbClr val="000000">
                <a:alpha val="12000"/>
              </a:srgbClr>
            </a:outerShdw>
          </a:effectLst>
        </p:spPr>
      </p:sp>
      <p:sp>
        <p:nvSpPr>
          <p:cNvPr id="13" name="Text 10"/>
          <p:cNvSpPr txBox="1"/>
          <p:nvPr/>
        </p:nvSpPr>
        <p:spPr>
          <a:xfrm>
            <a:off x="3886200" y="1828800"/>
            <a:ext cx="1371600" cy="777240"/>
          </a:xfrm>
          <a:prstGeom prst="rect">
            <a:avLst/>
          </a:prstGeom>
          <a:noFill/>
          <a:ln/>
        </p:spPr>
        <p:txBody>
          <a:bodyPr wrap="square" lIns="25400" tIns="25400" rIns="25400" bIns="25400" rtlCol="0" anchor="ctr"/>
          <a:lstStyle/>
          <a:p>
            <a:pPr algn="ctr" indent="0" marL="0">
              <a:buNone/>
            </a:pPr>
            <a:r>
              <a:rPr lang="en-US" sz="1150" b="1" dirty="0">
                <a:solidFill>
                  <a:srgbClr val="0B1020"/>
                </a:solidFill>
                <a:latin typeface="Calibri" pitchFamily="34" charset="0"/>
                <a:ea typeface="Calibri" pitchFamily="34" charset="-122"/>
                <a:cs typeface="Calibri" pitchFamily="34" charset="-120"/>
              </a:rPr>
              <a:t>JavaScript</a:t>
            </a:r>
            <a:endParaRPr lang="en-US" sz="1150" dirty="0"/>
          </a:p>
          <a:p>
            <a:pPr algn="ctr" indent="0" marL="0">
              <a:buNone/>
            </a:pPr>
            <a:r>
              <a:rPr lang="en-US" sz="900" dirty="0">
                <a:solidFill>
                  <a:srgbClr val="6B7280"/>
                </a:solidFill>
                <a:latin typeface="Calibri" pitchFamily="34" charset="0"/>
                <a:ea typeface="Calibri" pitchFamily="34" charset="-122"/>
                <a:cs typeface="Calibri" pitchFamily="34" charset="-120"/>
              </a:rPr>
              <a:t>Application layer</a:t>
            </a:r>
            <a:endParaRPr lang="en-US" sz="1150" dirty="0"/>
          </a:p>
        </p:txBody>
      </p:sp>
      <p:sp>
        <p:nvSpPr>
          <p:cNvPr id="14" name="Shape 11"/>
          <p:cNvSpPr/>
          <p:nvPr/>
        </p:nvSpPr>
        <p:spPr>
          <a:xfrm>
            <a:off x="5257800" y="2217420"/>
            <a:ext cx="320040" cy="0"/>
          </a:xfrm>
          <a:prstGeom prst="line">
            <a:avLst/>
          </a:prstGeom>
          <a:noFill/>
          <a:ln w="22225">
            <a:solidFill>
              <a:srgbClr val="0B1020"/>
            </a:solidFill>
            <a:prstDash val="solid"/>
            <a:tailEnd type="triangle"/>
          </a:ln>
        </p:spPr>
      </p:sp>
      <p:sp>
        <p:nvSpPr>
          <p:cNvPr id="15" name="Shape 12"/>
          <p:cNvSpPr/>
          <p:nvPr/>
        </p:nvSpPr>
        <p:spPr>
          <a:xfrm>
            <a:off x="5577840" y="1828800"/>
            <a:ext cx="1371600" cy="777240"/>
          </a:xfrm>
          <a:prstGeom prst="roundRect">
            <a:avLst>
              <a:gd name="adj" fmla="val 9412"/>
            </a:avLst>
          </a:prstGeom>
          <a:solidFill>
            <a:srgbClr val="FFFFFF"/>
          </a:solidFill>
          <a:ln w="22225">
            <a:solidFill>
              <a:srgbClr val="10B981"/>
            </a:solidFill>
            <a:prstDash val="solid"/>
          </a:ln>
          <a:effectLst>
            <a:outerShdw sx="100000" sy="100000" kx="0" ky="0" algn="bl" rotWithShape="0" blurRad="101600" dist="25400" dir="5400000">
              <a:srgbClr val="000000">
                <a:alpha val="12000"/>
              </a:srgbClr>
            </a:outerShdw>
          </a:effectLst>
        </p:spPr>
      </p:sp>
      <p:sp>
        <p:nvSpPr>
          <p:cNvPr id="16" name="Text 13"/>
          <p:cNvSpPr txBox="1"/>
          <p:nvPr/>
        </p:nvSpPr>
        <p:spPr>
          <a:xfrm>
            <a:off x="5577840" y="1828800"/>
            <a:ext cx="1371600" cy="777240"/>
          </a:xfrm>
          <a:prstGeom prst="rect">
            <a:avLst/>
          </a:prstGeom>
          <a:noFill/>
          <a:ln/>
        </p:spPr>
        <p:txBody>
          <a:bodyPr wrap="square" lIns="25400" tIns="25400" rIns="25400" bIns="25400" rtlCol="0" anchor="ctr"/>
          <a:lstStyle/>
          <a:p>
            <a:pPr algn="ctr" indent="0" marL="0">
              <a:buNone/>
            </a:pPr>
            <a:r>
              <a:rPr lang="en-US" sz="1150" b="1" dirty="0">
                <a:solidFill>
                  <a:srgbClr val="0B1020"/>
                </a:solidFill>
                <a:latin typeface="Calibri" pitchFamily="34" charset="0"/>
                <a:ea typeface="Calibri" pitchFamily="34" charset="-122"/>
                <a:cs typeface="Calibri" pitchFamily="34" charset="-120"/>
              </a:rPr>
              <a:t>WebAssembly</a:t>
            </a:r>
            <a:endParaRPr lang="en-US" sz="1150" dirty="0"/>
          </a:p>
          <a:p>
            <a:pPr algn="ctr" indent="0" marL="0">
              <a:buNone/>
            </a:pPr>
            <a:r>
              <a:rPr lang="en-US" sz="900" dirty="0">
                <a:solidFill>
                  <a:srgbClr val="6B7280"/>
                </a:solidFill>
                <a:latin typeface="Calibri" pitchFamily="34" charset="0"/>
                <a:ea typeface="Calibri" pitchFamily="34" charset="-122"/>
                <a:cs typeface="Calibri" pitchFamily="34" charset="-120"/>
              </a:rPr>
              <a:t>calculator.wasm</a:t>
            </a:r>
            <a:endParaRPr lang="en-US" sz="1150" dirty="0"/>
          </a:p>
        </p:txBody>
      </p:sp>
      <p:sp>
        <p:nvSpPr>
          <p:cNvPr id="17" name="Shape 14"/>
          <p:cNvSpPr/>
          <p:nvPr/>
        </p:nvSpPr>
        <p:spPr>
          <a:xfrm>
            <a:off x="6949440" y="2217420"/>
            <a:ext cx="320040" cy="0"/>
          </a:xfrm>
          <a:prstGeom prst="line">
            <a:avLst/>
          </a:prstGeom>
          <a:noFill/>
          <a:ln w="22225">
            <a:solidFill>
              <a:srgbClr val="0B1020"/>
            </a:solidFill>
            <a:prstDash val="solid"/>
            <a:tailEnd type="triangle"/>
          </a:ln>
        </p:spPr>
      </p:sp>
      <p:sp>
        <p:nvSpPr>
          <p:cNvPr id="18" name="Shape 15"/>
          <p:cNvSpPr/>
          <p:nvPr/>
        </p:nvSpPr>
        <p:spPr>
          <a:xfrm>
            <a:off x="7269480" y="1828800"/>
            <a:ext cx="1371600" cy="777240"/>
          </a:xfrm>
          <a:prstGeom prst="roundRect">
            <a:avLst>
              <a:gd name="adj" fmla="val 9412"/>
            </a:avLst>
          </a:prstGeom>
          <a:solidFill>
            <a:srgbClr val="FFFFFF"/>
          </a:solidFill>
          <a:ln w="22225">
            <a:solidFill>
              <a:srgbClr val="10B981"/>
            </a:solidFill>
            <a:prstDash val="solid"/>
          </a:ln>
          <a:effectLst>
            <a:outerShdw sx="100000" sy="100000" kx="0" ky="0" algn="bl" rotWithShape="0" blurRad="101600" dist="25400" dir="5400000">
              <a:srgbClr val="000000">
                <a:alpha val="12000"/>
              </a:srgbClr>
            </a:outerShdw>
          </a:effectLst>
        </p:spPr>
      </p:sp>
      <p:sp>
        <p:nvSpPr>
          <p:cNvPr id="19" name="Text 16"/>
          <p:cNvSpPr txBox="1"/>
          <p:nvPr/>
        </p:nvSpPr>
        <p:spPr>
          <a:xfrm>
            <a:off x="7269480" y="1828800"/>
            <a:ext cx="1371600" cy="777240"/>
          </a:xfrm>
          <a:prstGeom prst="rect">
            <a:avLst/>
          </a:prstGeom>
          <a:noFill/>
          <a:ln/>
        </p:spPr>
        <p:txBody>
          <a:bodyPr wrap="square" lIns="25400" tIns="25400" rIns="25400" bIns="25400" rtlCol="0" anchor="ctr"/>
          <a:lstStyle/>
          <a:p>
            <a:pPr algn="ctr" indent="0" marL="0">
              <a:buNone/>
            </a:pPr>
            <a:r>
              <a:rPr lang="en-US" sz="1150" b="1" dirty="0">
                <a:solidFill>
                  <a:srgbClr val="0B1020"/>
                </a:solidFill>
                <a:latin typeface="Calibri" pitchFamily="34" charset="0"/>
                <a:ea typeface="Calibri" pitchFamily="34" charset="-122"/>
                <a:cs typeface="Calibri" pitchFamily="34" charset="-120"/>
              </a:rPr>
              <a:t>C++ Evaluator</a:t>
            </a:r>
            <a:endParaRPr lang="en-US" sz="1150" dirty="0"/>
          </a:p>
          <a:p>
            <a:pPr algn="ctr" indent="0" marL="0">
              <a:buNone/>
            </a:pPr>
            <a:r>
              <a:rPr lang="en-US" sz="900" dirty="0">
                <a:solidFill>
                  <a:srgbClr val="6B7280"/>
                </a:solidFill>
                <a:latin typeface="Calibri" pitchFamily="34" charset="0"/>
                <a:ea typeface="Calibri" pitchFamily="34" charset="-122"/>
                <a:cs typeface="Calibri" pitchFamily="34" charset="-120"/>
              </a:rPr>
              <a:t>SmartExpression-</a:t>
            </a:r>
            <a:endParaRPr lang="en-US" sz="1150" dirty="0"/>
          </a:p>
          <a:p>
            <a:pPr algn="ctr" indent="0" marL="0">
              <a:buNone/>
            </a:pPr>
            <a:r>
              <a:rPr lang="en-US" sz="900" dirty="0">
                <a:solidFill>
                  <a:srgbClr val="6B7280"/>
                </a:solidFill>
                <a:latin typeface="Calibri" pitchFamily="34" charset="0"/>
                <a:ea typeface="Calibri" pitchFamily="34" charset="-122"/>
                <a:cs typeface="Calibri" pitchFamily="34" charset="-120"/>
              </a:rPr>
              <a:t>Evaluator</a:t>
            </a:r>
            <a:endParaRPr lang="en-US" sz="1150" dirty="0"/>
          </a:p>
        </p:txBody>
      </p:sp>
      <p:sp>
        <p:nvSpPr>
          <p:cNvPr id="20" name="Shape 17"/>
          <p:cNvSpPr/>
          <p:nvPr/>
        </p:nvSpPr>
        <p:spPr>
          <a:xfrm>
            <a:off x="7269480" y="3291840"/>
            <a:ext cx="1371600" cy="777240"/>
          </a:xfrm>
          <a:prstGeom prst="roundRect">
            <a:avLst>
              <a:gd name="adj" fmla="val 9412"/>
            </a:avLst>
          </a:prstGeom>
          <a:solidFill>
            <a:srgbClr val="FFFFFF"/>
          </a:solidFill>
          <a:ln w="22225">
            <a:solidFill>
              <a:srgbClr val="10B981"/>
            </a:solidFill>
            <a:prstDash val="solid"/>
          </a:ln>
          <a:effectLst>
            <a:outerShdw sx="100000" sy="100000" kx="0" ky="0" algn="bl" rotWithShape="0" blurRad="101600" dist="25400" dir="5400000">
              <a:srgbClr val="000000">
                <a:alpha val="12000"/>
              </a:srgbClr>
            </a:outerShdw>
          </a:effectLst>
        </p:spPr>
      </p:sp>
      <p:sp>
        <p:nvSpPr>
          <p:cNvPr id="21" name="Text 18"/>
          <p:cNvSpPr txBox="1"/>
          <p:nvPr/>
        </p:nvSpPr>
        <p:spPr>
          <a:xfrm>
            <a:off x="7269480" y="3291840"/>
            <a:ext cx="1371600" cy="777240"/>
          </a:xfrm>
          <a:prstGeom prst="rect">
            <a:avLst/>
          </a:prstGeom>
          <a:noFill/>
          <a:ln/>
        </p:spPr>
        <p:txBody>
          <a:bodyPr wrap="square" lIns="25400" tIns="25400" rIns="25400" bIns="25400" rtlCol="0" anchor="ctr"/>
          <a:lstStyle/>
          <a:p>
            <a:pPr algn="ctr" indent="0" marL="0">
              <a:buNone/>
            </a:pPr>
            <a:r>
              <a:rPr lang="en-US" sz="1150" b="1" dirty="0">
                <a:solidFill>
                  <a:srgbClr val="0B1020"/>
                </a:solidFill>
                <a:latin typeface="Calibri" pitchFamily="34" charset="0"/>
                <a:ea typeface="Calibri" pitchFamily="34" charset="-122"/>
                <a:cs typeface="Calibri" pitchFamily="34" charset="-120"/>
              </a:rPr>
              <a:t>Tokenization</a:t>
            </a:r>
            <a:endParaRPr lang="en-US" sz="1150" dirty="0"/>
          </a:p>
          <a:p>
            <a:pPr algn="ctr" indent="0" marL="0">
              <a:buNone/>
            </a:pPr>
            <a:r>
              <a:rPr lang="en-US" sz="900" dirty="0">
                <a:solidFill>
                  <a:srgbClr val="6B7280"/>
                </a:solidFill>
                <a:latin typeface="Calibri" pitchFamily="34" charset="0"/>
                <a:ea typeface="Calibri" pitchFamily="34" charset="-122"/>
                <a:cs typeface="Calibri" pitchFamily="34" charset="-120"/>
              </a:rPr>
              <a:t>Numbers, ops, funcs</a:t>
            </a:r>
            <a:endParaRPr lang="en-US" sz="1150" dirty="0"/>
          </a:p>
        </p:txBody>
      </p:sp>
      <p:sp>
        <p:nvSpPr>
          <p:cNvPr id="22" name="Shape 19"/>
          <p:cNvSpPr/>
          <p:nvPr/>
        </p:nvSpPr>
        <p:spPr>
          <a:xfrm flipH="1">
            <a:off x="6949440" y="3680460"/>
            <a:ext cx="320040" cy="0"/>
          </a:xfrm>
          <a:prstGeom prst="line">
            <a:avLst/>
          </a:prstGeom>
          <a:noFill/>
          <a:ln w="22225">
            <a:solidFill>
              <a:srgbClr val="0B1020"/>
            </a:solidFill>
            <a:prstDash val="solid"/>
            <a:tailEnd type="triangle"/>
          </a:ln>
        </p:spPr>
      </p:sp>
      <p:sp>
        <p:nvSpPr>
          <p:cNvPr id="23" name="Shape 20"/>
          <p:cNvSpPr/>
          <p:nvPr/>
        </p:nvSpPr>
        <p:spPr>
          <a:xfrm>
            <a:off x="5577840" y="3291840"/>
            <a:ext cx="1371600" cy="777240"/>
          </a:xfrm>
          <a:prstGeom prst="roundRect">
            <a:avLst>
              <a:gd name="adj" fmla="val 9412"/>
            </a:avLst>
          </a:prstGeom>
          <a:solidFill>
            <a:srgbClr val="FEF3C7"/>
          </a:solidFill>
          <a:ln w="22225">
            <a:solidFill>
              <a:srgbClr val="F5B942"/>
            </a:solidFill>
            <a:prstDash val="solid"/>
          </a:ln>
          <a:effectLst>
            <a:outerShdw sx="100000" sy="100000" kx="0" ky="0" algn="bl" rotWithShape="0" blurRad="101600" dist="25400" dir="5400000">
              <a:srgbClr val="000000">
                <a:alpha val="12000"/>
              </a:srgbClr>
            </a:outerShdw>
          </a:effectLst>
        </p:spPr>
      </p:sp>
      <p:sp>
        <p:nvSpPr>
          <p:cNvPr id="24" name="Text 21"/>
          <p:cNvSpPr txBox="1"/>
          <p:nvPr/>
        </p:nvSpPr>
        <p:spPr>
          <a:xfrm>
            <a:off x="5577840" y="3291840"/>
            <a:ext cx="1371600" cy="777240"/>
          </a:xfrm>
          <a:prstGeom prst="rect">
            <a:avLst/>
          </a:prstGeom>
          <a:noFill/>
          <a:ln/>
        </p:spPr>
        <p:txBody>
          <a:bodyPr wrap="square" lIns="25400" tIns="25400" rIns="25400" bIns="25400" rtlCol="0" anchor="ctr"/>
          <a:lstStyle/>
          <a:p>
            <a:pPr algn="ctr" indent="0" marL="0">
              <a:buNone/>
            </a:pPr>
            <a:r>
              <a:rPr lang="en-US" sz="1150" b="1" dirty="0">
                <a:solidFill>
                  <a:srgbClr val="0B1020"/>
                </a:solidFill>
                <a:latin typeface="Calibri" pitchFamily="34" charset="0"/>
                <a:ea typeface="Calibri" pitchFamily="34" charset="-122"/>
                <a:cs typeface="Calibri" pitchFamily="34" charset="-120"/>
              </a:rPr>
              <a:t>Infix → Postfix</a:t>
            </a:r>
            <a:endParaRPr lang="en-US" sz="1150" dirty="0"/>
          </a:p>
          <a:p>
            <a:pPr algn="ctr" indent="0" marL="0">
              <a:buNone/>
            </a:pPr>
            <a:r>
              <a:rPr lang="en-US" sz="900" dirty="0">
                <a:solidFill>
                  <a:srgbClr val="6B7280"/>
                </a:solidFill>
                <a:latin typeface="Calibri" pitchFamily="34" charset="0"/>
                <a:ea typeface="Calibri" pitchFamily="34" charset="-122"/>
                <a:cs typeface="Calibri" pitchFamily="34" charset="-120"/>
              </a:rPr>
              <a:t>Stack of operators</a:t>
            </a:r>
            <a:endParaRPr lang="en-US" sz="1150" dirty="0"/>
          </a:p>
        </p:txBody>
      </p:sp>
      <p:sp>
        <p:nvSpPr>
          <p:cNvPr id="25" name="Shape 22"/>
          <p:cNvSpPr/>
          <p:nvPr/>
        </p:nvSpPr>
        <p:spPr>
          <a:xfrm flipH="1">
            <a:off x="5257800" y="3680460"/>
            <a:ext cx="320040" cy="0"/>
          </a:xfrm>
          <a:prstGeom prst="line">
            <a:avLst/>
          </a:prstGeom>
          <a:noFill/>
          <a:ln w="22225">
            <a:solidFill>
              <a:srgbClr val="0B1020"/>
            </a:solidFill>
            <a:prstDash val="solid"/>
            <a:tailEnd type="triangle"/>
          </a:ln>
        </p:spPr>
      </p:sp>
      <p:sp>
        <p:nvSpPr>
          <p:cNvPr id="26" name="Shape 23"/>
          <p:cNvSpPr/>
          <p:nvPr/>
        </p:nvSpPr>
        <p:spPr>
          <a:xfrm>
            <a:off x="3886200" y="3291840"/>
            <a:ext cx="1371600" cy="777240"/>
          </a:xfrm>
          <a:prstGeom prst="roundRect">
            <a:avLst>
              <a:gd name="adj" fmla="val 9412"/>
            </a:avLst>
          </a:prstGeom>
          <a:solidFill>
            <a:srgbClr val="FEF3C7"/>
          </a:solidFill>
          <a:ln w="22225">
            <a:solidFill>
              <a:srgbClr val="F5B942"/>
            </a:solidFill>
            <a:prstDash val="solid"/>
          </a:ln>
          <a:effectLst>
            <a:outerShdw sx="100000" sy="100000" kx="0" ky="0" algn="bl" rotWithShape="0" blurRad="101600" dist="25400" dir="5400000">
              <a:srgbClr val="000000">
                <a:alpha val="12000"/>
              </a:srgbClr>
            </a:outerShdw>
          </a:effectLst>
        </p:spPr>
      </p:sp>
      <p:sp>
        <p:nvSpPr>
          <p:cNvPr id="27" name="Text 24"/>
          <p:cNvSpPr txBox="1"/>
          <p:nvPr/>
        </p:nvSpPr>
        <p:spPr>
          <a:xfrm>
            <a:off x="3886200" y="3291840"/>
            <a:ext cx="1371600" cy="777240"/>
          </a:xfrm>
          <a:prstGeom prst="rect">
            <a:avLst/>
          </a:prstGeom>
          <a:noFill/>
          <a:ln/>
        </p:spPr>
        <p:txBody>
          <a:bodyPr wrap="square" lIns="25400" tIns="25400" rIns="25400" bIns="25400" rtlCol="0" anchor="ctr"/>
          <a:lstStyle/>
          <a:p>
            <a:pPr algn="ctr" indent="0" marL="0">
              <a:buNone/>
            </a:pPr>
            <a:r>
              <a:rPr lang="en-US" sz="1150" b="1" dirty="0">
                <a:solidFill>
                  <a:srgbClr val="0B1020"/>
                </a:solidFill>
                <a:latin typeface="Calibri" pitchFamily="34" charset="0"/>
                <a:ea typeface="Calibri" pitchFamily="34" charset="-122"/>
                <a:cs typeface="Calibri" pitchFamily="34" charset="-120"/>
              </a:rPr>
              <a:t>Evaluation</a:t>
            </a:r>
            <a:endParaRPr lang="en-US" sz="1150" dirty="0"/>
          </a:p>
          <a:p>
            <a:pPr algn="ctr" indent="0" marL="0">
              <a:buNone/>
            </a:pPr>
            <a:r>
              <a:rPr lang="en-US" sz="900" dirty="0">
                <a:solidFill>
                  <a:srgbClr val="6B7280"/>
                </a:solidFill>
                <a:latin typeface="Calibri" pitchFamily="34" charset="0"/>
                <a:ea typeface="Calibri" pitchFamily="34" charset="-122"/>
                <a:cs typeface="Calibri" pitchFamily="34" charset="-120"/>
              </a:rPr>
              <a:t>Stack of values</a:t>
            </a:r>
            <a:endParaRPr lang="en-US" sz="1150" dirty="0"/>
          </a:p>
        </p:txBody>
      </p:sp>
      <p:sp>
        <p:nvSpPr>
          <p:cNvPr id="28" name="Shape 25"/>
          <p:cNvSpPr/>
          <p:nvPr/>
        </p:nvSpPr>
        <p:spPr>
          <a:xfrm flipH="1">
            <a:off x="3566160" y="3680460"/>
            <a:ext cx="320040" cy="0"/>
          </a:xfrm>
          <a:prstGeom prst="line">
            <a:avLst/>
          </a:prstGeom>
          <a:noFill/>
          <a:ln w="22225">
            <a:solidFill>
              <a:srgbClr val="0B1020"/>
            </a:solidFill>
            <a:prstDash val="solid"/>
            <a:tailEnd type="triangle"/>
          </a:ln>
        </p:spPr>
      </p:sp>
      <p:sp>
        <p:nvSpPr>
          <p:cNvPr id="29" name="Shape 26"/>
          <p:cNvSpPr/>
          <p:nvPr/>
        </p:nvSpPr>
        <p:spPr>
          <a:xfrm>
            <a:off x="2194560" y="3291840"/>
            <a:ext cx="1371600" cy="777240"/>
          </a:xfrm>
          <a:prstGeom prst="roundRect">
            <a:avLst>
              <a:gd name="adj" fmla="val 9412"/>
            </a:avLst>
          </a:prstGeom>
          <a:solidFill>
            <a:srgbClr val="FFFFFF"/>
          </a:solidFill>
          <a:ln w="22225">
            <a:solidFill>
              <a:srgbClr val="5E6EF2"/>
            </a:solidFill>
            <a:prstDash val="solid"/>
          </a:ln>
          <a:effectLst>
            <a:outerShdw sx="100000" sy="100000" kx="0" ky="0" algn="bl" rotWithShape="0" blurRad="101600" dist="25400" dir="5400000">
              <a:srgbClr val="000000">
                <a:alpha val="12000"/>
              </a:srgbClr>
            </a:outerShdw>
          </a:effectLst>
        </p:spPr>
      </p:sp>
      <p:sp>
        <p:nvSpPr>
          <p:cNvPr id="30" name="Text 27"/>
          <p:cNvSpPr txBox="1"/>
          <p:nvPr/>
        </p:nvSpPr>
        <p:spPr>
          <a:xfrm>
            <a:off x="2194560" y="3291840"/>
            <a:ext cx="1371600" cy="777240"/>
          </a:xfrm>
          <a:prstGeom prst="rect">
            <a:avLst/>
          </a:prstGeom>
          <a:noFill/>
          <a:ln/>
        </p:spPr>
        <p:txBody>
          <a:bodyPr wrap="square" lIns="25400" tIns="25400" rIns="25400" bIns="25400" rtlCol="0" anchor="ctr"/>
          <a:lstStyle/>
          <a:p>
            <a:pPr algn="ctr" indent="0" marL="0">
              <a:buNone/>
            </a:pPr>
            <a:r>
              <a:rPr lang="en-US" sz="1150" b="1" dirty="0">
                <a:solidFill>
                  <a:srgbClr val="0B1020"/>
                </a:solidFill>
                <a:latin typeface="Calibri" pitchFamily="34" charset="0"/>
                <a:ea typeface="Calibri" pitchFamily="34" charset="-122"/>
                <a:cs typeface="Calibri" pitchFamily="34" charset="-120"/>
              </a:rPr>
              <a:t>Result + Postfix</a:t>
            </a:r>
            <a:endParaRPr lang="en-US" sz="1150" dirty="0"/>
          </a:p>
          <a:p>
            <a:pPr algn="ctr" indent="0" marL="0">
              <a:buNone/>
            </a:pPr>
            <a:r>
              <a:rPr lang="en-US" sz="900" dirty="0">
                <a:solidFill>
                  <a:srgbClr val="6B7280"/>
                </a:solidFill>
                <a:latin typeface="Calibri" pitchFamily="34" charset="0"/>
                <a:ea typeface="Calibri" pitchFamily="34" charset="-122"/>
                <a:cs typeface="Calibri" pitchFamily="34" charset="-120"/>
              </a:rPr>
              <a:t>Returned as JSON</a:t>
            </a:r>
            <a:endParaRPr lang="en-US" sz="1150" dirty="0"/>
          </a:p>
        </p:txBody>
      </p:sp>
      <p:sp>
        <p:nvSpPr>
          <p:cNvPr id="31" name="Shape 28"/>
          <p:cNvSpPr/>
          <p:nvPr/>
        </p:nvSpPr>
        <p:spPr>
          <a:xfrm flipH="1">
            <a:off x="1874520" y="3680460"/>
            <a:ext cx="320040" cy="0"/>
          </a:xfrm>
          <a:prstGeom prst="line">
            <a:avLst/>
          </a:prstGeom>
          <a:noFill/>
          <a:ln w="22225">
            <a:solidFill>
              <a:srgbClr val="0B1020"/>
            </a:solidFill>
            <a:prstDash val="solid"/>
            <a:tailEnd type="triangle"/>
          </a:ln>
        </p:spPr>
      </p:sp>
      <p:sp>
        <p:nvSpPr>
          <p:cNvPr id="32" name="Shape 29"/>
          <p:cNvSpPr/>
          <p:nvPr/>
        </p:nvSpPr>
        <p:spPr>
          <a:xfrm>
            <a:off x="502920" y="3291840"/>
            <a:ext cx="1371600" cy="777240"/>
          </a:xfrm>
          <a:prstGeom prst="roundRect">
            <a:avLst>
              <a:gd name="adj" fmla="val 9412"/>
            </a:avLst>
          </a:prstGeom>
          <a:solidFill>
            <a:srgbClr val="FFFFFF"/>
          </a:solidFill>
          <a:ln w="22225">
            <a:solidFill>
              <a:srgbClr val="5E6EF2"/>
            </a:solidFill>
            <a:prstDash val="solid"/>
          </a:ln>
          <a:effectLst>
            <a:outerShdw sx="100000" sy="100000" kx="0" ky="0" algn="bl" rotWithShape="0" blurRad="101600" dist="25400" dir="5400000">
              <a:srgbClr val="000000">
                <a:alpha val="12000"/>
              </a:srgbClr>
            </a:outerShdw>
          </a:effectLst>
        </p:spPr>
      </p:sp>
      <p:sp>
        <p:nvSpPr>
          <p:cNvPr id="33" name="Text 30"/>
          <p:cNvSpPr txBox="1"/>
          <p:nvPr/>
        </p:nvSpPr>
        <p:spPr>
          <a:xfrm>
            <a:off x="502920" y="3291840"/>
            <a:ext cx="1371600" cy="777240"/>
          </a:xfrm>
          <a:prstGeom prst="rect">
            <a:avLst/>
          </a:prstGeom>
          <a:noFill/>
          <a:ln/>
        </p:spPr>
        <p:txBody>
          <a:bodyPr wrap="square" lIns="25400" tIns="25400" rIns="25400" bIns="25400" rtlCol="0" anchor="ctr"/>
          <a:lstStyle/>
          <a:p>
            <a:pPr algn="ctr" indent="0" marL="0">
              <a:buNone/>
            </a:pPr>
            <a:r>
              <a:rPr lang="en-US" sz="1150" b="1" dirty="0">
                <a:solidFill>
                  <a:srgbClr val="0B1020"/>
                </a:solidFill>
                <a:latin typeface="Calibri" pitchFamily="34" charset="0"/>
                <a:ea typeface="Calibri" pitchFamily="34" charset="-122"/>
                <a:cs typeface="Calibri" pitchFamily="34" charset="-120"/>
              </a:rPr>
              <a:t>Browser UI</a:t>
            </a:r>
            <a:endParaRPr lang="en-US" sz="1150" dirty="0"/>
          </a:p>
          <a:p>
            <a:pPr algn="ctr" indent="0" marL="0">
              <a:buNone/>
            </a:pPr>
            <a:r>
              <a:rPr lang="en-US" sz="900" dirty="0">
                <a:solidFill>
                  <a:srgbClr val="6B7280"/>
                </a:solidFill>
                <a:latin typeface="Calibri" pitchFamily="34" charset="0"/>
                <a:ea typeface="Calibri" pitchFamily="34" charset="-122"/>
                <a:cs typeface="Calibri" pitchFamily="34" charset="-120"/>
              </a:rPr>
              <a:t>Display + history</a:t>
            </a:r>
            <a:endParaRPr lang="en-US" sz="1150" dirty="0"/>
          </a:p>
        </p:txBody>
      </p:sp>
      <p:sp>
        <p:nvSpPr>
          <p:cNvPr id="34" name="Shape 31"/>
          <p:cNvSpPr/>
          <p:nvPr/>
        </p:nvSpPr>
        <p:spPr>
          <a:xfrm>
            <a:off x="7955280" y="2606040"/>
            <a:ext cx="0" cy="685800"/>
          </a:xfrm>
          <a:prstGeom prst="line">
            <a:avLst/>
          </a:prstGeom>
          <a:noFill/>
          <a:ln w="22225">
            <a:solidFill>
              <a:srgbClr val="0B1020"/>
            </a:solidFill>
            <a:prstDash val="solid"/>
            <a:tailEnd type="triangle"/>
          </a:ln>
        </p:spPr>
      </p:sp>
      <p:sp>
        <p:nvSpPr>
          <p:cNvPr id="35" name="Shape 32"/>
          <p:cNvSpPr/>
          <p:nvPr/>
        </p:nvSpPr>
        <p:spPr>
          <a:xfrm>
            <a:off x="3703320" y="960120"/>
            <a:ext cx="1737360" cy="502920"/>
          </a:xfrm>
          <a:prstGeom prst="roundRect">
            <a:avLst>
              <a:gd name="adj" fmla="val 14545"/>
            </a:avLst>
          </a:prstGeom>
          <a:solidFill>
            <a:srgbClr val="EEF2FF"/>
          </a:solidFill>
          <a:ln w="19050">
            <a:solidFill>
              <a:srgbClr val="5E6EF2"/>
            </a:solidFill>
            <a:prstDash val="dash"/>
          </a:ln>
        </p:spPr>
      </p:sp>
      <p:sp>
        <p:nvSpPr>
          <p:cNvPr id="36" name="Text 33"/>
          <p:cNvSpPr txBox="1"/>
          <p:nvPr/>
        </p:nvSpPr>
        <p:spPr>
          <a:xfrm>
            <a:off x="3703320" y="960120"/>
            <a:ext cx="1737360" cy="502920"/>
          </a:xfrm>
          <a:prstGeom prst="rect">
            <a:avLst/>
          </a:prstGeom>
          <a:noFill/>
          <a:ln/>
        </p:spPr>
        <p:txBody>
          <a:bodyPr wrap="square" lIns="0" tIns="0" rIns="0" bIns="0" rtlCol="0" anchor="ctr"/>
          <a:lstStyle/>
          <a:p>
            <a:pPr algn="ctr" indent="0" marL="0">
              <a:buNone/>
            </a:pPr>
            <a:r>
              <a:rPr lang="en-US" sz="1150" b="1" dirty="0">
                <a:solidFill>
                  <a:srgbClr val="0B1020"/>
                </a:solidFill>
                <a:latin typeface="Calibri" pitchFamily="34" charset="0"/>
                <a:ea typeface="Calibri" pitchFamily="34" charset="-122"/>
                <a:cs typeface="Calibri" pitchFamily="34" charset="-120"/>
              </a:rPr>
              <a:t>LocalStorage</a:t>
            </a:r>
            <a:endParaRPr lang="en-US" sz="1150" dirty="0"/>
          </a:p>
          <a:p>
            <a:pPr algn="ctr" indent="0" marL="0">
              <a:buNone/>
            </a:pPr>
            <a:r>
              <a:rPr lang="en-US" sz="900" dirty="0">
                <a:solidFill>
                  <a:srgbClr val="6B7280"/>
                </a:solidFill>
                <a:latin typeface="Calibri" pitchFamily="34" charset="0"/>
                <a:ea typeface="Calibri" pitchFamily="34" charset="-122"/>
                <a:cs typeface="Calibri" pitchFamily="34" charset="-120"/>
              </a:rPr>
              <a:t>Variables + History</a:t>
            </a:r>
            <a:endParaRPr lang="en-US" sz="1150" dirty="0"/>
          </a:p>
        </p:txBody>
      </p:sp>
      <p:sp>
        <p:nvSpPr>
          <p:cNvPr id="37" name="Shape 34"/>
          <p:cNvSpPr/>
          <p:nvPr/>
        </p:nvSpPr>
        <p:spPr>
          <a:xfrm>
            <a:off x="4572000" y="1463040"/>
            <a:ext cx="0" cy="365760"/>
          </a:xfrm>
          <a:prstGeom prst="line">
            <a:avLst/>
          </a:prstGeom>
          <a:noFill/>
          <a:ln w="19050">
            <a:solidFill>
              <a:srgbClr val="5E6EF2"/>
            </a:solidFill>
            <a:prstDash val="dash"/>
            <a:headEnd type="triangle"/>
            <a:tailEnd type="triangle"/>
          </a:ln>
        </p:spPr>
      </p:sp>
      <p:sp>
        <p:nvSpPr>
          <p:cNvPr id="38" name="Text 35"/>
          <p:cNvSpPr txBox="1"/>
          <p:nvPr/>
        </p:nvSpPr>
        <p:spPr>
          <a:xfrm>
            <a:off x="502920" y="4297680"/>
            <a:ext cx="8138160" cy="274320"/>
          </a:xfrm>
          <a:prstGeom prst="rect">
            <a:avLst/>
          </a:prstGeom>
          <a:noFill/>
          <a:ln/>
        </p:spPr>
        <p:txBody>
          <a:bodyPr wrap="square" lIns="0" tIns="0" rIns="0" bIns="0"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C++ engine (green/amber) runs entirely inside the browser – no server-side calculation.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0B1020"/>
                </a:solidFill>
                <a:latin typeface="Cambria" pitchFamily="34" charset="0"/>
                <a:ea typeface="Cambria" pitchFamily="34" charset="-122"/>
                <a:cs typeface="Cambria" pitchFamily="34" charset="-120"/>
              </a:rPr>
              <a:t>DSA Implementation – Stack</a:t>
            </a:r>
            <a:endParaRPr lang="en-US" sz="2800" dirty="0"/>
          </a:p>
        </p:txBody>
      </p:sp>
      <p:sp>
        <p:nvSpPr>
          <p:cNvPr id="3" name="Text 1"/>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Smart Calculator – Stack-Based Expression Evaluator</a:t>
            </a:r>
            <a:endParaRPr lang="en-US" sz="900" dirty="0"/>
          </a:p>
        </p:txBody>
      </p:sp>
      <p:sp>
        <p:nvSpPr>
          <p:cNvPr id="4" name="Text 2"/>
          <p:cNvSpPr txBox="1"/>
          <p:nvPr/>
        </p:nvSpPr>
        <p:spPr>
          <a:xfrm>
            <a:off x="5029200" y="4773168"/>
            <a:ext cx="3657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Vaishnavi Ojha  |  12405374  |  7</a:t>
            </a:r>
            <a:endParaRPr lang="en-US" sz="900" dirty="0"/>
          </a:p>
        </p:txBody>
      </p:sp>
      <p:sp>
        <p:nvSpPr>
          <p:cNvPr id="6" name="Shape 3"/>
          <p:cNvSpPr/>
          <p:nvPr/>
        </p:nvSpPr>
        <p:spPr>
          <a:xfrm>
            <a:off x="457200" y="1005840"/>
            <a:ext cx="2468880" cy="640080"/>
          </a:xfrm>
          <a:prstGeom prst="roundRect">
            <a:avLst>
              <a:gd name="adj" fmla="val 11429"/>
            </a:avLst>
          </a:prstGeom>
          <a:solidFill>
            <a:srgbClr val="0B1020"/>
          </a:solidFill>
          <a:ln w="12700">
            <a:solidFill>
              <a:srgbClr val="0B1020"/>
            </a:solidFill>
            <a:prstDash val="solid"/>
          </a:ln>
        </p:spPr>
      </p:sp>
      <p:sp>
        <p:nvSpPr>
          <p:cNvPr id="7" name="Text 4"/>
          <p:cNvSpPr txBox="1"/>
          <p:nvPr/>
        </p:nvSpPr>
        <p:spPr>
          <a:xfrm>
            <a:off x="457200" y="1005840"/>
            <a:ext cx="2468880" cy="640080"/>
          </a:xfrm>
          <a:prstGeom prst="rect">
            <a:avLst/>
          </a:prstGeom>
          <a:noFill/>
          <a:ln/>
        </p:spPr>
        <p:txBody>
          <a:bodyPr wrap="square" lIns="0" tIns="0" rIns="0" bIns="0" rtlCol="0" anchor="ctr"/>
          <a:lstStyle/>
          <a:p>
            <a:pPr algn="ctr" indent="0" marL="0">
              <a:buNone/>
            </a:pPr>
            <a:r>
              <a:rPr lang="en-US" sz="1100" dirty="0">
                <a:solidFill>
                  <a:srgbClr val="9CA3AF"/>
                </a:solidFill>
                <a:latin typeface="Calibri" pitchFamily="34" charset="0"/>
                <a:ea typeface="Calibri" pitchFamily="34" charset="-122"/>
                <a:cs typeface="Calibri" pitchFamily="34" charset="-120"/>
              </a:rPr>
              <a:t>Infix  </a:t>
            </a:r>
            <a:pPr algn="ctr" indent="0" marL="0">
              <a:buNone/>
            </a:pPr>
            <a:r>
              <a:rPr lang="en-US" sz="1600" b="1" dirty="0">
                <a:solidFill>
                  <a:srgbClr val="A5B4FC"/>
                </a:solidFill>
                <a:latin typeface="Courier New" pitchFamily="34" charset="0"/>
                <a:ea typeface="Courier New" pitchFamily="34" charset="-122"/>
                <a:cs typeface="Courier New" pitchFamily="34" charset="-120"/>
              </a:rPr>
              <a:t>3 + 5 * 2</a:t>
            </a:r>
            <a:endParaRPr lang="en-US" sz="1100" dirty="0"/>
          </a:p>
        </p:txBody>
      </p:sp>
      <p:sp>
        <p:nvSpPr>
          <p:cNvPr id="8" name="Shape 5"/>
          <p:cNvSpPr/>
          <p:nvPr/>
        </p:nvSpPr>
        <p:spPr>
          <a:xfrm>
            <a:off x="2926080" y="1325880"/>
            <a:ext cx="365760" cy="0"/>
          </a:xfrm>
          <a:prstGeom prst="line">
            <a:avLst/>
          </a:prstGeom>
          <a:noFill/>
          <a:ln w="22225">
            <a:solidFill>
              <a:srgbClr val="6B7280"/>
            </a:solidFill>
            <a:prstDash val="solid"/>
            <a:tailEnd type="triangle"/>
          </a:ln>
        </p:spPr>
      </p:sp>
      <p:sp>
        <p:nvSpPr>
          <p:cNvPr id="9" name="Shape 6"/>
          <p:cNvSpPr/>
          <p:nvPr/>
        </p:nvSpPr>
        <p:spPr>
          <a:xfrm>
            <a:off x="3291840" y="1005840"/>
            <a:ext cx="2468880" cy="640080"/>
          </a:xfrm>
          <a:prstGeom prst="roundRect">
            <a:avLst>
              <a:gd name="adj" fmla="val 11429"/>
            </a:avLst>
          </a:prstGeom>
          <a:solidFill>
            <a:srgbClr val="0B1020"/>
          </a:solidFill>
          <a:ln w="12700">
            <a:solidFill>
              <a:srgbClr val="0B1020"/>
            </a:solidFill>
            <a:prstDash val="solid"/>
          </a:ln>
        </p:spPr>
      </p:sp>
      <p:sp>
        <p:nvSpPr>
          <p:cNvPr id="10" name="Text 7"/>
          <p:cNvSpPr txBox="1"/>
          <p:nvPr/>
        </p:nvSpPr>
        <p:spPr>
          <a:xfrm>
            <a:off x="3291840" y="1005840"/>
            <a:ext cx="2468880" cy="640080"/>
          </a:xfrm>
          <a:prstGeom prst="rect">
            <a:avLst/>
          </a:prstGeom>
          <a:noFill/>
          <a:ln/>
        </p:spPr>
        <p:txBody>
          <a:bodyPr wrap="square" lIns="0" tIns="0" rIns="0" bIns="0" rtlCol="0" anchor="ctr"/>
          <a:lstStyle/>
          <a:p>
            <a:pPr algn="ctr" indent="0" marL="0">
              <a:buNone/>
            </a:pPr>
            <a:r>
              <a:rPr lang="en-US" sz="1100" dirty="0">
                <a:solidFill>
                  <a:srgbClr val="9CA3AF"/>
                </a:solidFill>
                <a:latin typeface="Calibri" pitchFamily="34" charset="0"/>
                <a:ea typeface="Calibri" pitchFamily="34" charset="-122"/>
                <a:cs typeface="Calibri" pitchFamily="34" charset="-120"/>
              </a:rPr>
              <a:t>Postfix  </a:t>
            </a:r>
            <a:pPr algn="ctr" indent="0" marL="0">
              <a:buNone/>
            </a:pPr>
            <a:r>
              <a:rPr lang="en-US" sz="1600" b="1" dirty="0">
                <a:solidFill>
                  <a:srgbClr val="6EE7B7"/>
                </a:solidFill>
                <a:latin typeface="Courier New" pitchFamily="34" charset="0"/>
                <a:ea typeface="Courier New" pitchFamily="34" charset="-122"/>
                <a:cs typeface="Courier New" pitchFamily="34" charset="-120"/>
              </a:rPr>
              <a:t>3 5 2 * +</a:t>
            </a:r>
            <a:endParaRPr lang="en-US" sz="1100" dirty="0"/>
          </a:p>
        </p:txBody>
      </p:sp>
      <p:sp>
        <p:nvSpPr>
          <p:cNvPr id="11" name="Shape 8"/>
          <p:cNvSpPr/>
          <p:nvPr/>
        </p:nvSpPr>
        <p:spPr>
          <a:xfrm>
            <a:off x="5760720" y="1325880"/>
            <a:ext cx="365760" cy="0"/>
          </a:xfrm>
          <a:prstGeom prst="line">
            <a:avLst/>
          </a:prstGeom>
          <a:noFill/>
          <a:ln w="22225">
            <a:solidFill>
              <a:srgbClr val="6B7280"/>
            </a:solidFill>
            <a:prstDash val="solid"/>
            <a:tailEnd type="triangle"/>
          </a:ln>
        </p:spPr>
      </p:sp>
      <p:sp>
        <p:nvSpPr>
          <p:cNvPr id="12" name="Shape 9"/>
          <p:cNvSpPr/>
          <p:nvPr/>
        </p:nvSpPr>
        <p:spPr>
          <a:xfrm>
            <a:off x="6126480" y="1005840"/>
            <a:ext cx="2468880" cy="640080"/>
          </a:xfrm>
          <a:prstGeom prst="roundRect">
            <a:avLst>
              <a:gd name="adj" fmla="val 11429"/>
            </a:avLst>
          </a:prstGeom>
          <a:solidFill>
            <a:srgbClr val="0B1020"/>
          </a:solidFill>
          <a:ln w="12700">
            <a:solidFill>
              <a:srgbClr val="0B1020"/>
            </a:solidFill>
            <a:prstDash val="solid"/>
          </a:ln>
        </p:spPr>
      </p:sp>
      <p:sp>
        <p:nvSpPr>
          <p:cNvPr id="13" name="Text 10"/>
          <p:cNvSpPr txBox="1"/>
          <p:nvPr/>
        </p:nvSpPr>
        <p:spPr>
          <a:xfrm>
            <a:off x="6126480" y="1005840"/>
            <a:ext cx="2468880" cy="640080"/>
          </a:xfrm>
          <a:prstGeom prst="rect">
            <a:avLst/>
          </a:prstGeom>
          <a:noFill/>
          <a:ln/>
        </p:spPr>
        <p:txBody>
          <a:bodyPr wrap="square" lIns="0" tIns="0" rIns="0" bIns="0" rtlCol="0" anchor="ctr"/>
          <a:lstStyle/>
          <a:p>
            <a:pPr algn="ctr" indent="0" marL="0">
              <a:buNone/>
            </a:pPr>
            <a:r>
              <a:rPr lang="en-US" sz="1100" dirty="0">
                <a:solidFill>
                  <a:srgbClr val="9CA3AF"/>
                </a:solidFill>
                <a:latin typeface="Calibri" pitchFamily="34" charset="0"/>
                <a:ea typeface="Calibri" pitchFamily="34" charset="-122"/>
                <a:cs typeface="Calibri" pitchFamily="34" charset="-120"/>
              </a:rPr>
              <a:t>Result  </a:t>
            </a:r>
            <a:pPr algn="ctr" indent="0" marL="0">
              <a:buNone/>
            </a:pPr>
            <a:r>
              <a:rPr lang="en-US" sz="1600" b="1" dirty="0">
                <a:solidFill>
                  <a:srgbClr val="F5B942"/>
                </a:solidFill>
                <a:latin typeface="Courier New" pitchFamily="34" charset="0"/>
                <a:ea typeface="Courier New" pitchFamily="34" charset="-122"/>
                <a:cs typeface="Courier New" pitchFamily="34" charset="-120"/>
              </a:rPr>
              <a:t>13</a:t>
            </a:r>
            <a:endParaRPr lang="en-US" sz="1100" dirty="0"/>
          </a:p>
        </p:txBody>
      </p:sp>
      <p:sp>
        <p:nvSpPr>
          <p:cNvPr id="14" name="Text 11"/>
          <p:cNvSpPr txBox="1"/>
          <p:nvPr/>
        </p:nvSpPr>
        <p:spPr>
          <a:xfrm>
            <a:off x="457200" y="1920240"/>
            <a:ext cx="3749040" cy="265176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Operators are pushed on a stack; precedence decides when to pop</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Parentheses: "(" is pushed, ")" pops until its match</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Equal precedence: pop only if left-associative (^ is right)</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Postfix removes the need for brackets and precedence</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A second stack of values evaluates the postfix</a:t>
            </a:r>
            <a:endParaRPr lang="en-US" sz="1250" dirty="0"/>
          </a:p>
        </p:txBody>
      </p:sp>
      <p:sp>
        <p:nvSpPr>
          <p:cNvPr id="15" name="Shape 12"/>
          <p:cNvSpPr/>
          <p:nvPr/>
        </p:nvSpPr>
        <p:spPr>
          <a:xfrm>
            <a:off x="4434840" y="1874520"/>
            <a:ext cx="4251960" cy="2697480"/>
          </a:xfrm>
          <a:prstGeom prst="roundRect">
            <a:avLst>
              <a:gd name="adj" fmla="val 2712"/>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16" name="Text 13"/>
          <p:cNvSpPr txBox="1"/>
          <p:nvPr/>
        </p:nvSpPr>
        <p:spPr>
          <a:xfrm>
            <a:off x="4572000" y="1938528"/>
            <a:ext cx="4023360" cy="274320"/>
          </a:xfrm>
          <a:prstGeom prst="rect">
            <a:avLst/>
          </a:prstGeom>
          <a:noFill/>
          <a:ln/>
        </p:spPr>
        <p:txBody>
          <a:bodyPr wrap="square" lIns="0" tIns="0" rIns="0" bIns="0" rtlCol="0" anchor="ctr"/>
          <a:lstStyle/>
          <a:p>
            <a:pPr indent="0" marL="0">
              <a:buNone/>
            </a:pPr>
            <a:r>
              <a:rPr lang="en-US" sz="1200" b="1" dirty="0">
                <a:solidFill>
                  <a:srgbClr val="0B1020"/>
                </a:solidFill>
                <a:latin typeface="Calibri" pitchFamily="34" charset="0"/>
                <a:ea typeface="Calibri" pitchFamily="34" charset="-122"/>
                <a:cs typeface="Calibri" pitchFamily="34" charset="-120"/>
              </a:rPr>
              <a:t>Evaluating  3 5 2 * +  (value stack)</a:t>
            </a:r>
            <a:endParaRPr lang="en-US" sz="1200" dirty="0"/>
          </a:p>
        </p:txBody>
      </p:sp>
      <p:sp>
        <p:nvSpPr>
          <p:cNvPr id="17" name="Shape 14"/>
          <p:cNvSpPr/>
          <p:nvPr/>
        </p:nvSpPr>
        <p:spPr>
          <a:xfrm>
            <a:off x="4572000" y="3611880"/>
            <a:ext cx="658368" cy="347472"/>
          </a:xfrm>
          <a:prstGeom prst="rect">
            <a:avLst/>
          </a:prstGeom>
          <a:solidFill>
            <a:srgbClr val="5E6EF2"/>
          </a:solidFill>
          <a:ln w="9525">
            <a:solidFill>
              <a:srgbClr val="5E6EF2"/>
            </a:solidFill>
            <a:prstDash val="solid"/>
          </a:ln>
        </p:spPr>
      </p:sp>
      <p:sp>
        <p:nvSpPr>
          <p:cNvPr id="18" name="Text 15"/>
          <p:cNvSpPr txBox="1"/>
          <p:nvPr/>
        </p:nvSpPr>
        <p:spPr>
          <a:xfrm>
            <a:off x="4572000" y="3611880"/>
            <a:ext cx="658368"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19" name="Shape 16"/>
          <p:cNvSpPr/>
          <p:nvPr/>
        </p:nvSpPr>
        <p:spPr>
          <a:xfrm>
            <a:off x="4572000" y="3227832"/>
            <a:ext cx="658368" cy="347472"/>
          </a:xfrm>
          <a:prstGeom prst="rect">
            <a:avLst/>
          </a:prstGeom>
          <a:solidFill>
            <a:srgbClr val="F3F4F6"/>
          </a:solidFill>
          <a:ln w="9525">
            <a:solidFill>
              <a:srgbClr val="D1D5DB"/>
            </a:solidFill>
            <a:prstDash val="solid"/>
          </a:ln>
        </p:spPr>
      </p:sp>
      <p:sp>
        <p:nvSpPr>
          <p:cNvPr id="20" name="Shape 17"/>
          <p:cNvSpPr/>
          <p:nvPr/>
        </p:nvSpPr>
        <p:spPr>
          <a:xfrm>
            <a:off x="4572000" y="2843784"/>
            <a:ext cx="658368" cy="347472"/>
          </a:xfrm>
          <a:prstGeom prst="rect">
            <a:avLst/>
          </a:prstGeom>
          <a:solidFill>
            <a:srgbClr val="F3F4F6"/>
          </a:solidFill>
          <a:ln w="9525">
            <a:solidFill>
              <a:srgbClr val="D1D5DB"/>
            </a:solidFill>
            <a:prstDash val="solid"/>
          </a:ln>
        </p:spPr>
      </p:sp>
      <p:sp>
        <p:nvSpPr>
          <p:cNvPr id="21" name="Text 18"/>
          <p:cNvSpPr txBox="1"/>
          <p:nvPr/>
        </p:nvSpPr>
        <p:spPr>
          <a:xfrm>
            <a:off x="4526280" y="4041648"/>
            <a:ext cx="749808" cy="365760"/>
          </a:xfrm>
          <a:prstGeom prst="rect">
            <a:avLst/>
          </a:prstGeom>
          <a:noFill/>
          <a:ln/>
        </p:spPr>
        <p:txBody>
          <a:bodyPr wrap="square" lIns="0" tIns="0" rIns="0" bIns="0" rtlCol="0" anchor="t"/>
          <a:lstStyle/>
          <a:p>
            <a:pPr algn="ctr" indent="0" marL="0">
              <a:buNone/>
            </a:pPr>
            <a:r>
              <a:rPr lang="en-US" sz="900" dirty="0">
                <a:solidFill>
                  <a:srgbClr val="6B7280"/>
                </a:solidFill>
                <a:latin typeface="Calibri" pitchFamily="34" charset="0"/>
                <a:ea typeface="Calibri" pitchFamily="34" charset="-122"/>
                <a:cs typeface="Calibri" pitchFamily="34" charset="-120"/>
              </a:rPr>
              <a:t>push 3</a:t>
            </a:r>
            <a:endParaRPr lang="en-US" sz="900" dirty="0"/>
          </a:p>
        </p:txBody>
      </p:sp>
      <p:sp>
        <p:nvSpPr>
          <p:cNvPr id="22" name="Shape 19"/>
          <p:cNvSpPr/>
          <p:nvPr/>
        </p:nvSpPr>
        <p:spPr>
          <a:xfrm>
            <a:off x="5376672" y="3611880"/>
            <a:ext cx="658368" cy="347472"/>
          </a:xfrm>
          <a:prstGeom prst="rect">
            <a:avLst/>
          </a:prstGeom>
          <a:solidFill>
            <a:srgbClr val="5E6EF2"/>
          </a:solidFill>
          <a:ln w="9525">
            <a:solidFill>
              <a:srgbClr val="5E6EF2"/>
            </a:solidFill>
            <a:prstDash val="solid"/>
          </a:ln>
        </p:spPr>
      </p:sp>
      <p:sp>
        <p:nvSpPr>
          <p:cNvPr id="23" name="Text 20"/>
          <p:cNvSpPr txBox="1"/>
          <p:nvPr/>
        </p:nvSpPr>
        <p:spPr>
          <a:xfrm>
            <a:off x="5376672" y="3611880"/>
            <a:ext cx="658368"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24" name="Shape 21"/>
          <p:cNvSpPr/>
          <p:nvPr/>
        </p:nvSpPr>
        <p:spPr>
          <a:xfrm>
            <a:off x="5376672" y="3227832"/>
            <a:ext cx="658368" cy="347472"/>
          </a:xfrm>
          <a:prstGeom prst="rect">
            <a:avLst/>
          </a:prstGeom>
          <a:solidFill>
            <a:srgbClr val="5E6EF2"/>
          </a:solidFill>
          <a:ln w="9525">
            <a:solidFill>
              <a:srgbClr val="5E6EF2"/>
            </a:solidFill>
            <a:prstDash val="solid"/>
          </a:ln>
        </p:spPr>
      </p:sp>
      <p:sp>
        <p:nvSpPr>
          <p:cNvPr id="25" name="Text 22"/>
          <p:cNvSpPr txBox="1"/>
          <p:nvPr/>
        </p:nvSpPr>
        <p:spPr>
          <a:xfrm>
            <a:off x="5376672" y="3227832"/>
            <a:ext cx="658368"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5</a:t>
            </a:r>
            <a:endParaRPr lang="en-US" sz="1400" dirty="0"/>
          </a:p>
        </p:txBody>
      </p:sp>
      <p:sp>
        <p:nvSpPr>
          <p:cNvPr id="26" name="Shape 23"/>
          <p:cNvSpPr/>
          <p:nvPr/>
        </p:nvSpPr>
        <p:spPr>
          <a:xfrm>
            <a:off x="5376672" y="2843784"/>
            <a:ext cx="658368" cy="347472"/>
          </a:xfrm>
          <a:prstGeom prst="rect">
            <a:avLst/>
          </a:prstGeom>
          <a:solidFill>
            <a:srgbClr val="F3F4F6"/>
          </a:solidFill>
          <a:ln w="9525">
            <a:solidFill>
              <a:srgbClr val="D1D5DB"/>
            </a:solidFill>
            <a:prstDash val="solid"/>
          </a:ln>
        </p:spPr>
      </p:sp>
      <p:sp>
        <p:nvSpPr>
          <p:cNvPr id="27" name="Text 24"/>
          <p:cNvSpPr txBox="1"/>
          <p:nvPr/>
        </p:nvSpPr>
        <p:spPr>
          <a:xfrm>
            <a:off x="5330952" y="4041648"/>
            <a:ext cx="749808" cy="365760"/>
          </a:xfrm>
          <a:prstGeom prst="rect">
            <a:avLst/>
          </a:prstGeom>
          <a:noFill/>
          <a:ln/>
        </p:spPr>
        <p:txBody>
          <a:bodyPr wrap="square" lIns="0" tIns="0" rIns="0" bIns="0" rtlCol="0" anchor="t"/>
          <a:lstStyle/>
          <a:p>
            <a:pPr algn="ctr" indent="0" marL="0">
              <a:buNone/>
            </a:pPr>
            <a:r>
              <a:rPr lang="en-US" sz="900" dirty="0">
                <a:solidFill>
                  <a:srgbClr val="6B7280"/>
                </a:solidFill>
                <a:latin typeface="Calibri" pitchFamily="34" charset="0"/>
                <a:ea typeface="Calibri" pitchFamily="34" charset="-122"/>
                <a:cs typeface="Calibri" pitchFamily="34" charset="-120"/>
              </a:rPr>
              <a:t>push 5</a:t>
            </a:r>
            <a:endParaRPr lang="en-US" sz="900" dirty="0"/>
          </a:p>
        </p:txBody>
      </p:sp>
      <p:sp>
        <p:nvSpPr>
          <p:cNvPr id="28" name="Shape 25"/>
          <p:cNvSpPr/>
          <p:nvPr/>
        </p:nvSpPr>
        <p:spPr>
          <a:xfrm>
            <a:off x="6181344" y="3611880"/>
            <a:ext cx="658368" cy="347472"/>
          </a:xfrm>
          <a:prstGeom prst="rect">
            <a:avLst/>
          </a:prstGeom>
          <a:solidFill>
            <a:srgbClr val="5E6EF2"/>
          </a:solidFill>
          <a:ln w="9525">
            <a:solidFill>
              <a:srgbClr val="5E6EF2"/>
            </a:solidFill>
            <a:prstDash val="solid"/>
          </a:ln>
        </p:spPr>
      </p:sp>
      <p:sp>
        <p:nvSpPr>
          <p:cNvPr id="29" name="Text 26"/>
          <p:cNvSpPr txBox="1"/>
          <p:nvPr/>
        </p:nvSpPr>
        <p:spPr>
          <a:xfrm>
            <a:off x="6181344" y="3611880"/>
            <a:ext cx="658368"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30" name="Shape 27"/>
          <p:cNvSpPr/>
          <p:nvPr/>
        </p:nvSpPr>
        <p:spPr>
          <a:xfrm>
            <a:off x="6181344" y="3227832"/>
            <a:ext cx="658368" cy="347472"/>
          </a:xfrm>
          <a:prstGeom prst="rect">
            <a:avLst/>
          </a:prstGeom>
          <a:solidFill>
            <a:srgbClr val="5E6EF2"/>
          </a:solidFill>
          <a:ln w="9525">
            <a:solidFill>
              <a:srgbClr val="5E6EF2"/>
            </a:solidFill>
            <a:prstDash val="solid"/>
          </a:ln>
        </p:spPr>
      </p:sp>
      <p:sp>
        <p:nvSpPr>
          <p:cNvPr id="31" name="Text 28"/>
          <p:cNvSpPr txBox="1"/>
          <p:nvPr/>
        </p:nvSpPr>
        <p:spPr>
          <a:xfrm>
            <a:off x="6181344" y="3227832"/>
            <a:ext cx="658368"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5</a:t>
            </a:r>
            <a:endParaRPr lang="en-US" sz="1400" dirty="0"/>
          </a:p>
        </p:txBody>
      </p:sp>
      <p:sp>
        <p:nvSpPr>
          <p:cNvPr id="32" name="Shape 29"/>
          <p:cNvSpPr/>
          <p:nvPr/>
        </p:nvSpPr>
        <p:spPr>
          <a:xfrm>
            <a:off x="6181344" y="2843784"/>
            <a:ext cx="658368" cy="347472"/>
          </a:xfrm>
          <a:prstGeom prst="rect">
            <a:avLst/>
          </a:prstGeom>
          <a:solidFill>
            <a:srgbClr val="5E6EF2"/>
          </a:solidFill>
          <a:ln w="9525">
            <a:solidFill>
              <a:srgbClr val="5E6EF2"/>
            </a:solidFill>
            <a:prstDash val="solid"/>
          </a:ln>
        </p:spPr>
      </p:sp>
      <p:sp>
        <p:nvSpPr>
          <p:cNvPr id="33" name="Text 30"/>
          <p:cNvSpPr txBox="1"/>
          <p:nvPr/>
        </p:nvSpPr>
        <p:spPr>
          <a:xfrm>
            <a:off x="6181344" y="2843784"/>
            <a:ext cx="658368"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34" name="Text 31"/>
          <p:cNvSpPr txBox="1"/>
          <p:nvPr/>
        </p:nvSpPr>
        <p:spPr>
          <a:xfrm>
            <a:off x="6135624" y="4041648"/>
            <a:ext cx="749808" cy="365760"/>
          </a:xfrm>
          <a:prstGeom prst="rect">
            <a:avLst/>
          </a:prstGeom>
          <a:noFill/>
          <a:ln/>
        </p:spPr>
        <p:txBody>
          <a:bodyPr wrap="square" lIns="0" tIns="0" rIns="0" bIns="0" rtlCol="0" anchor="t"/>
          <a:lstStyle/>
          <a:p>
            <a:pPr algn="ctr" indent="0" marL="0">
              <a:buNone/>
            </a:pPr>
            <a:r>
              <a:rPr lang="en-US" sz="900" dirty="0">
                <a:solidFill>
                  <a:srgbClr val="6B7280"/>
                </a:solidFill>
                <a:latin typeface="Calibri" pitchFamily="34" charset="0"/>
                <a:ea typeface="Calibri" pitchFamily="34" charset="-122"/>
                <a:cs typeface="Calibri" pitchFamily="34" charset="-120"/>
              </a:rPr>
              <a:t>push 2</a:t>
            </a:r>
            <a:endParaRPr lang="en-US" sz="900" dirty="0"/>
          </a:p>
        </p:txBody>
      </p:sp>
      <p:sp>
        <p:nvSpPr>
          <p:cNvPr id="35" name="Shape 32"/>
          <p:cNvSpPr/>
          <p:nvPr/>
        </p:nvSpPr>
        <p:spPr>
          <a:xfrm>
            <a:off x="6986016" y="3611880"/>
            <a:ext cx="658368" cy="347472"/>
          </a:xfrm>
          <a:prstGeom prst="rect">
            <a:avLst/>
          </a:prstGeom>
          <a:solidFill>
            <a:srgbClr val="5E6EF2"/>
          </a:solidFill>
          <a:ln w="9525">
            <a:solidFill>
              <a:srgbClr val="5E6EF2"/>
            </a:solidFill>
            <a:prstDash val="solid"/>
          </a:ln>
        </p:spPr>
      </p:sp>
      <p:sp>
        <p:nvSpPr>
          <p:cNvPr id="36" name="Text 33"/>
          <p:cNvSpPr txBox="1"/>
          <p:nvPr/>
        </p:nvSpPr>
        <p:spPr>
          <a:xfrm>
            <a:off x="6986016" y="3611880"/>
            <a:ext cx="658368"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37" name="Shape 34"/>
          <p:cNvSpPr/>
          <p:nvPr/>
        </p:nvSpPr>
        <p:spPr>
          <a:xfrm>
            <a:off x="6986016" y="3227832"/>
            <a:ext cx="658368" cy="347472"/>
          </a:xfrm>
          <a:prstGeom prst="rect">
            <a:avLst/>
          </a:prstGeom>
          <a:solidFill>
            <a:srgbClr val="5E6EF2"/>
          </a:solidFill>
          <a:ln w="9525">
            <a:solidFill>
              <a:srgbClr val="5E6EF2"/>
            </a:solidFill>
            <a:prstDash val="solid"/>
          </a:ln>
        </p:spPr>
      </p:sp>
      <p:sp>
        <p:nvSpPr>
          <p:cNvPr id="38" name="Text 35"/>
          <p:cNvSpPr txBox="1"/>
          <p:nvPr/>
        </p:nvSpPr>
        <p:spPr>
          <a:xfrm>
            <a:off x="6986016" y="3227832"/>
            <a:ext cx="658368"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10</a:t>
            </a:r>
            <a:endParaRPr lang="en-US" sz="1400" dirty="0"/>
          </a:p>
        </p:txBody>
      </p:sp>
      <p:sp>
        <p:nvSpPr>
          <p:cNvPr id="39" name="Shape 36"/>
          <p:cNvSpPr/>
          <p:nvPr/>
        </p:nvSpPr>
        <p:spPr>
          <a:xfrm>
            <a:off x="6986016" y="2843784"/>
            <a:ext cx="658368" cy="347472"/>
          </a:xfrm>
          <a:prstGeom prst="rect">
            <a:avLst/>
          </a:prstGeom>
          <a:solidFill>
            <a:srgbClr val="F3F4F6"/>
          </a:solidFill>
          <a:ln w="9525">
            <a:solidFill>
              <a:srgbClr val="D1D5DB"/>
            </a:solidFill>
            <a:prstDash val="solid"/>
          </a:ln>
        </p:spPr>
      </p:sp>
      <p:sp>
        <p:nvSpPr>
          <p:cNvPr id="40" name="Text 37"/>
          <p:cNvSpPr txBox="1"/>
          <p:nvPr/>
        </p:nvSpPr>
        <p:spPr>
          <a:xfrm>
            <a:off x="6940296" y="4041648"/>
            <a:ext cx="749808" cy="365760"/>
          </a:xfrm>
          <a:prstGeom prst="rect">
            <a:avLst/>
          </a:prstGeom>
          <a:noFill/>
          <a:ln/>
        </p:spPr>
        <p:txBody>
          <a:bodyPr wrap="square" lIns="0" tIns="0" rIns="0" bIns="0" rtlCol="0" anchor="t"/>
          <a:lstStyle/>
          <a:p>
            <a:pPr algn="ctr" indent="0" marL="0">
              <a:buNone/>
            </a:pPr>
            <a:r>
              <a:rPr lang="en-US" sz="900" dirty="0">
                <a:solidFill>
                  <a:srgbClr val="6B7280"/>
                </a:solidFill>
                <a:latin typeface="Calibri" pitchFamily="34" charset="0"/>
                <a:ea typeface="Calibri" pitchFamily="34" charset="-122"/>
                <a:cs typeface="Calibri" pitchFamily="34" charset="-120"/>
              </a:rPr>
              <a:t>* → 5*2</a:t>
            </a:r>
            <a:endParaRPr lang="en-US" sz="900" dirty="0"/>
          </a:p>
        </p:txBody>
      </p:sp>
      <p:sp>
        <p:nvSpPr>
          <p:cNvPr id="41" name="Shape 38"/>
          <p:cNvSpPr/>
          <p:nvPr/>
        </p:nvSpPr>
        <p:spPr>
          <a:xfrm>
            <a:off x="7790688" y="3611880"/>
            <a:ext cx="658368" cy="347472"/>
          </a:xfrm>
          <a:prstGeom prst="rect">
            <a:avLst/>
          </a:prstGeom>
          <a:solidFill>
            <a:srgbClr val="10B981"/>
          </a:solidFill>
          <a:ln w="9525">
            <a:solidFill>
              <a:srgbClr val="10B981"/>
            </a:solidFill>
            <a:prstDash val="solid"/>
          </a:ln>
        </p:spPr>
      </p:sp>
      <p:sp>
        <p:nvSpPr>
          <p:cNvPr id="42" name="Text 39"/>
          <p:cNvSpPr txBox="1"/>
          <p:nvPr/>
        </p:nvSpPr>
        <p:spPr>
          <a:xfrm>
            <a:off x="7790688" y="3611880"/>
            <a:ext cx="658368"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13</a:t>
            </a:r>
            <a:endParaRPr lang="en-US" sz="1400" dirty="0"/>
          </a:p>
        </p:txBody>
      </p:sp>
      <p:sp>
        <p:nvSpPr>
          <p:cNvPr id="43" name="Shape 40"/>
          <p:cNvSpPr/>
          <p:nvPr/>
        </p:nvSpPr>
        <p:spPr>
          <a:xfrm>
            <a:off x="7790688" y="3227832"/>
            <a:ext cx="658368" cy="347472"/>
          </a:xfrm>
          <a:prstGeom prst="rect">
            <a:avLst/>
          </a:prstGeom>
          <a:solidFill>
            <a:srgbClr val="F3F4F6"/>
          </a:solidFill>
          <a:ln w="9525">
            <a:solidFill>
              <a:srgbClr val="D1D5DB"/>
            </a:solidFill>
            <a:prstDash val="solid"/>
          </a:ln>
        </p:spPr>
      </p:sp>
      <p:sp>
        <p:nvSpPr>
          <p:cNvPr id="44" name="Shape 41"/>
          <p:cNvSpPr/>
          <p:nvPr/>
        </p:nvSpPr>
        <p:spPr>
          <a:xfrm>
            <a:off x="7790688" y="2843784"/>
            <a:ext cx="658368" cy="347472"/>
          </a:xfrm>
          <a:prstGeom prst="rect">
            <a:avLst/>
          </a:prstGeom>
          <a:solidFill>
            <a:srgbClr val="F3F4F6"/>
          </a:solidFill>
          <a:ln w="9525">
            <a:solidFill>
              <a:srgbClr val="D1D5DB"/>
            </a:solidFill>
            <a:prstDash val="solid"/>
          </a:ln>
        </p:spPr>
      </p:sp>
      <p:sp>
        <p:nvSpPr>
          <p:cNvPr id="45" name="Text 42"/>
          <p:cNvSpPr txBox="1"/>
          <p:nvPr/>
        </p:nvSpPr>
        <p:spPr>
          <a:xfrm>
            <a:off x="7744968" y="4041648"/>
            <a:ext cx="749808" cy="365760"/>
          </a:xfrm>
          <a:prstGeom prst="rect">
            <a:avLst/>
          </a:prstGeom>
          <a:noFill/>
          <a:ln/>
        </p:spPr>
        <p:txBody>
          <a:bodyPr wrap="square" lIns="0" tIns="0" rIns="0" bIns="0" rtlCol="0" anchor="t"/>
          <a:lstStyle/>
          <a:p>
            <a:pPr algn="ctr" indent="0" marL="0">
              <a:buNone/>
            </a:pPr>
            <a:r>
              <a:rPr lang="en-US" sz="900" dirty="0">
                <a:solidFill>
                  <a:srgbClr val="6B7280"/>
                </a:solidFill>
                <a:latin typeface="Calibri" pitchFamily="34" charset="0"/>
                <a:ea typeface="Calibri" pitchFamily="34" charset="-122"/>
                <a:cs typeface="Calibri" pitchFamily="34" charset="-120"/>
              </a:rPr>
              <a:t>+ → 3+10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0B1020"/>
                </a:solidFill>
                <a:latin typeface="Cambria" pitchFamily="34" charset="0"/>
                <a:ea typeface="Cambria" pitchFamily="34" charset="-122"/>
                <a:cs typeface="Cambria" pitchFamily="34" charset="-120"/>
              </a:rPr>
              <a:t>Key Features / Modules</a:t>
            </a:r>
            <a:endParaRPr lang="en-US" sz="2800" dirty="0"/>
          </a:p>
        </p:txBody>
      </p:sp>
      <p:sp>
        <p:nvSpPr>
          <p:cNvPr id="3" name="Text 1"/>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Smart Calculator – Stack-Based Expression Evaluator</a:t>
            </a:r>
            <a:endParaRPr lang="en-US" sz="900" dirty="0"/>
          </a:p>
        </p:txBody>
      </p:sp>
      <p:sp>
        <p:nvSpPr>
          <p:cNvPr id="4" name="Text 2"/>
          <p:cNvSpPr txBox="1"/>
          <p:nvPr/>
        </p:nvSpPr>
        <p:spPr>
          <a:xfrm>
            <a:off x="5029200" y="4773168"/>
            <a:ext cx="3657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Vaishnavi Ojha  |  12405374  |  8</a:t>
            </a:r>
            <a:endParaRPr lang="en-US" sz="900" dirty="0"/>
          </a:p>
        </p:txBody>
      </p:sp>
      <p:sp>
        <p:nvSpPr>
          <p:cNvPr id="6" name="Shape 3"/>
          <p:cNvSpPr/>
          <p:nvPr/>
        </p:nvSpPr>
        <p:spPr>
          <a:xfrm>
            <a:off x="457200" y="1097280"/>
            <a:ext cx="1920240" cy="1554480"/>
          </a:xfrm>
          <a:prstGeom prst="roundRect">
            <a:avLst>
              <a:gd name="adj" fmla="val 4706"/>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7" name="Shape 4"/>
          <p:cNvSpPr/>
          <p:nvPr/>
        </p:nvSpPr>
        <p:spPr>
          <a:xfrm>
            <a:off x="621792" y="1261872"/>
            <a:ext cx="457200" cy="457200"/>
          </a:xfrm>
          <a:prstGeom prst="ellipse">
            <a:avLst/>
          </a:prstGeom>
          <a:solidFill>
            <a:srgbClr val="5E6EF2"/>
          </a:solidFill>
          <a:ln w="12700">
            <a:solidFill>
              <a:srgbClr val="5E6EF2"/>
            </a:solidFill>
            <a:prstDash val="solid"/>
          </a:ln>
        </p:spPr>
      </p:sp>
      <p:pic>
        <p:nvPicPr>
          <p:cNvPr id="8" name="Image 0" descr="preencoded.png">    </p:cNvPr>
          <p:cNvPicPr>
            <a:picLocks noChangeAspect="1"/>
          </p:cNvPicPr>
          <p:nvPr/>
        </p:nvPicPr>
        <p:blipFill>
          <a:blip r:embed="rId1"/>
          <a:stretch>
            <a:fillRect/>
          </a:stretch>
        </p:blipFill>
        <p:spPr>
          <a:xfrm>
            <a:off x="740664" y="1380744"/>
            <a:ext cx="219456" cy="219456"/>
          </a:xfrm>
          <a:prstGeom prst="rect">
            <a:avLst/>
          </a:prstGeom>
        </p:spPr>
      </p:pic>
      <p:sp>
        <p:nvSpPr>
          <p:cNvPr id="9" name="Text 5"/>
          <p:cNvSpPr txBox="1"/>
          <p:nvPr/>
        </p:nvSpPr>
        <p:spPr>
          <a:xfrm>
            <a:off x="621792" y="1828800"/>
            <a:ext cx="1645920" cy="320040"/>
          </a:xfrm>
          <a:prstGeom prst="rect">
            <a:avLst/>
          </a:prstGeom>
          <a:noFill/>
          <a:ln/>
        </p:spPr>
        <p:txBody>
          <a:bodyPr wrap="square" lIns="0" tIns="0" rIns="0" bIns="0" rtlCol="0" anchor="ctr"/>
          <a:lstStyle/>
          <a:p>
            <a:pPr indent="0" marL="0">
              <a:buNone/>
            </a:pPr>
            <a:r>
              <a:rPr lang="en-US" sz="1250" b="1" dirty="0">
                <a:solidFill>
                  <a:srgbClr val="0B1020"/>
                </a:solidFill>
                <a:latin typeface="Calibri" pitchFamily="34" charset="0"/>
                <a:ea typeface="Calibri" pitchFamily="34" charset="-122"/>
                <a:cs typeface="Calibri" pitchFamily="34" charset="-120"/>
              </a:rPr>
              <a:t>Calculator Module</a:t>
            </a:r>
            <a:endParaRPr lang="en-US" sz="1250" dirty="0"/>
          </a:p>
        </p:txBody>
      </p:sp>
      <p:sp>
        <p:nvSpPr>
          <p:cNvPr id="10" name="Text 6"/>
          <p:cNvSpPr txBox="1"/>
          <p:nvPr/>
        </p:nvSpPr>
        <p:spPr>
          <a:xfrm>
            <a:off x="621792" y="2148840"/>
            <a:ext cx="1645920" cy="41148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Button grid + expression input</a:t>
            </a:r>
            <a:endParaRPr lang="en-US" sz="1050" dirty="0"/>
          </a:p>
        </p:txBody>
      </p:sp>
      <p:sp>
        <p:nvSpPr>
          <p:cNvPr id="11" name="Shape 7"/>
          <p:cNvSpPr/>
          <p:nvPr/>
        </p:nvSpPr>
        <p:spPr>
          <a:xfrm>
            <a:off x="2542032" y="1097280"/>
            <a:ext cx="1920240" cy="1554480"/>
          </a:xfrm>
          <a:prstGeom prst="roundRect">
            <a:avLst>
              <a:gd name="adj" fmla="val 4706"/>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12" name="Shape 8"/>
          <p:cNvSpPr/>
          <p:nvPr/>
        </p:nvSpPr>
        <p:spPr>
          <a:xfrm>
            <a:off x="2706624" y="1261872"/>
            <a:ext cx="457200" cy="457200"/>
          </a:xfrm>
          <a:prstGeom prst="ellipse">
            <a:avLst/>
          </a:prstGeom>
          <a:solidFill>
            <a:srgbClr val="10B981"/>
          </a:solidFill>
          <a:ln w="12700">
            <a:solidFill>
              <a:srgbClr val="10B981"/>
            </a:solidFill>
            <a:prstDash val="solid"/>
          </a:ln>
        </p:spPr>
      </p:sp>
      <p:pic>
        <p:nvPicPr>
          <p:cNvPr id="13" name="Image 1" descr="preencoded.png">    </p:cNvPr>
          <p:cNvPicPr>
            <a:picLocks noChangeAspect="1"/>
          </p:cNvPicPr>
          <p:nvPr/>
        </p:nvPicPr>
        <p:blipFill>
          <a:blip r:embed="rId2"/>
          <a:stretch>
            <a:fillRect/>
          </a:stretch>
        </p:blipFill>
        <p:spPr>
          <a:xfrm>
            <a:off x="2825496" y="1380744"/>
            <a:ext cx="219456" cy="219456"/>
          </a:xfrm>
          <a:prstGeom prst="rect">
            <a:avLst/>
          </a:prstGeom>
        </p:spPr>
      </p:pic>
      <p:sp>
        <p:nvSpPr>
          <p:cNvPr id="14" name="Text 9"/>
          <p:cNvSpPr txBox="1"/>
          <p:nvPr/>
        </p:nvSpPr>
        <p:spPr>
          <a:xfrm>
            <a:off x="2706624" y="1828800"/>
            <a:ext cx="1645920" cy="320040"/>
          </a:xfrm>
          <a:prstGeom prst="rect">
            <a:avLst/>
          </a:prstGeom>
          <a:noFill/>
          <a:ln/>
        </p:spPr>
        <p:txBody>
          <a:bodyPr wrap="square" lIns="0" tIns="0" rIns="0" bIns="0" rtlCol="0" anchor="ctr"/>
          <a:lstStyle/>
          <a:p>
            <a:pPr indent="0" marL="0">
              <a:buNone/>
            </a:pPr>
            <a:r>
              <a:rPr lang="en-US" sz="1250" b="1" dirty="0">
                <a:solidFill>
                  <a:srgbClr val="0B1020"/>
                </a:solidFill>
                <a:latin typeface="Calibri" pitchFamily="34" charset="0"/>
                <a:ea typeface="Calibri" pitchFamily="34" charset="-122"/>
                <a:cs typeface="Calibri" pitchFamily="34" charset="-120"/>
              </a:rPr>
              <a:t>Expression Parser</a:t>
            </a:r>
            <a:endParaRPr lang="en-US" sz="1250" dirty="0"/>
          </a:p>
        </p:txBody>
      </p:sp>
      <p:sp>
        <p:nvSpPr>
          <p:cNvPr id="15" name="Text 10"/>
          <p:cNvSpPr txBox="1"/>
          <p:nvPr/>
        </p:nvSpPr>
        <p:spPr>
          <a:xfrm>
            <a:off x="2706624" y="2148840"/>
            <a:ext cx="1645920" cy="41148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Tokenizer, unary +/-, brackets</a:t>
            </a:r>
            <a:endParaRPr lang="en-US" sz="1050" dirty="0"/>
          </a:p>
        </p:txBody>
      </p:sp>
      <p:sp>
        <p:nvSpPr>
          <p:cNvPr id="16" name="Shape 11"/>
          <p:cNvSpPr/>
          <p:nvPr/>
        </p:nvSpPr>
        <p:spPr>
          <a:xfrm>
            <a:off x="4626864" y="1097280"/>
            <a:ext cx="1920240" cy="1554480"/>
          </a:xfrm>
          <a:prstGeom prst="roundRect">
            <a:avLst>
              <a:gd name="adj" fmla="val 4706"/>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17" name="Shape 12"/>
          <p:cNvSpPr/>
          <p:nvPr/>
        </p:nvSpPr>
        <p:spPr>
          <a:xfrm>
            <a:off x="4791456" y="1261872"/>
            <a:ext cx="457200" cy="457200"/>
          </a:xfrm>
          <a:prstGeom prst="ellipse">
            <a:avLst/>
          </a:prstGeom>
          <a:solidFill>
            <a:srgbClr val="8B5CF6"/>
          </a:solidFill>
          <a:ln w="12700">
            <a:solidFill>
              <a:srgbClr val="8B5CF6"/>
            </a:solidFill>
            <a:prstDash val="solid"/>
          </a:ln>
        </p:spPr>
      </p:sp>
      <p:pic>
        <p:nvPicPr>
          <p:cNvPr id="18" name="Image 2" descr="preencoded.png">    </p:cNvPr>
          <p:cNvPicPr>
            <a:picLocks noChangeAspect="1"/>
          </p:cNvPicPr>
          <p:nvPr/>
        </p:nvPicPr>
        <p:blipFill>
          <a:blip r:embed="rId3"/>
          <a:stretch>
            <a:fillRect/>
          </a:stretch>
        </p:blipFill>
        <p:spPr>
          <a:xfrm>
            <a:off x="4910328" y="1380744"/>
            <a:ext cx="219456" cy="219456"/>
          </a:xfrm>
          <a:prstGeom prst="rect">
            <a:avLst/>
          </a:prstGeom>
        </p:spPr>
      </p:pic>
      <p:sp>
        <p:nvSpPr>
          <p:cNvPr id="19" name="Text 13"/>
          <p:cNvSpPr txBox="1"/>
          <p:nvPr/>
        </p:nvSpPr>
        <p:spPr>
          <a:xfrm>
            <a:off x="4791456" y="1828800"/>
            <a:ext cx="1645920" cy="320040"/>
          </a:xfrm>
          <a:prstGeom prst="rect">
            <a:avLst/>
          </a:prstGeom>
          <a:noFill/>
          <a:ln/>
        </p:spPr>
        <p:txBody>
          <a:bodyPr wrap="square" lIns="0" tIns="0" rIns="0" bIns="0" rtlCol="0" anchor="ctr"/>
          <a:lstStyle/>
          <a:p>
            <a:pPr indent="0" marL="0">
              <a:buNone/>
            </a:pPr>
            <a:r>
              <a:rPr lang="en-US" sz="1250" b="1" dirty="0">
                <a:solidFill>
                  <a:srgbClr val="0B1020"/>
                </a:solidFill>
                <a:latin typeface="Calibri" pitchFamily="34" charset="0"/>
                <a:ea typeface="Calibri" pitchFamily="34" charset="-122"/>
                <a:cs typeface="Calibri" pitchFamily="34" charset="-120"/>
              </a:rPr>
              <a:t>Stack Evaluator</a:t>
            </a:r>
            <a:endParaRPr lang="en-US" sz="1250" dirty="0"/>
          </a:p>
        </p:txBody>
      </p:sp>
      <p:sp>
        <p:nvSpPr>
          <p:cNvPr id="20" name="Text 14"/>
          <p:cNvSpPr txBox="1"/>
          <p:nvPr/>
        </p:nvSpPr>
        <p:spPr>
          <a:xfrm>
            <a:off x="4791456" y="2148840"/>
            <a:ext cx="1645920" cy="41148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Infix → postfix → result</a:t>
            </a:r>
            <a:endParaRPr lang="en-US" sz="1050" dirty="0"/>
          </a:p>
        </p:txBody>
      </p:sp>
      <p:sp>
        <p:nvSpPr>
          <p:cNvPr id="21" name="Shape 15"/>
          <p:cNvSpPr/>
          <p:nvPr/>
        </p:nvSpPr>
        <p:spPr>
          <a:xfrm>
            <a:off x="6711696" y="1097280"/>
            <a:ext cx="1920240" cy="1554480"/>
          </a:xfrm>
          <a:prstGeom prst="roundRect">
            <a:avLst>
              <a:gd name="adj" fmla="val 4706"/>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22" name="Shape 16"/>
          <p:cNvSpPr/>
          <p:nvPr/>
        </p:nvSpPr>
        <p:spPr>
          <a:xfrm>
            <a:off x="6876288" y="1261872"/>
            <a:ext cx="457200" cy="457200"/>
          </a:xfrm>
          <a:prstGeom prst="ellipse">
            <a:avLst/>
          </a:prstGeom>
          <a:solidFill>
            <a:srgbClr val="5E6EF2"/>
          </a:solidFill>
          <a:ln w="12700">
            <a:solidFill>
              <a:srgbClr val="5E6EF2"/>
            </a:solidFill>
            <a:prstDash val="solid"/>
          </a:ln>
        </p:spPr>
      </p:sp>
      <p:pic>
        <p:nvPicPr>
          <p:cNvPr id="23" name="Image 3" descr="preencoded.png">    </p:cNvPr>
          <p:cNvPicPr>
            <a:picLocks noChangeAspect="1"/>
          </p:cNvPicPr>
          <p:nvPr/>
        </p:nvPicPr>
        <p:blipFill>
          <a:blip r:embed="rId4"/>
          <a:stretch>
            <a:fillRect/>
          </a:stretch>
        </p:blipFill>
        <p:spPr>
          <a:xfrm>
            <a:off x="6995160" y="1380744"/>
            <a:ext cx="219456" cy="219456"/>
          </a:xfrm>
          <a:prstGeom prst="rect">
            <a:avLst/>
          </a:prstGeom>
        </p:spPr>
      </p:pic>
      <p:sp>
        <p:nvSpPr>
          <p:cNvPr id="24" name="Text 17"/>
          <p:cNvSpPr txBox="1"/>
          <p:nvPr/>
        </p:nvSpPr>
        <p:spPr>
          <a:xfrm>
            <a:off x="6876288" y="1828800"/>
            <a:ext cx="1645920" cy="320040"/>
          </a:xfrm>
          <a:prstGeom prst="rect">
            <a:avLst/>
          </a:prstGeom>
          <a:noFill/>
          <a:ln/>
        </p:spPr>
        <p:txBody>
          <a:bodyPr wrap="square" lIns="0" tIns="0" rIns="0" bIns="0" rtlCol="0" anchor="ctr"/>
          <a:lstStyle/>
          <a:p>
            <a:pPr indent="0" marL="0">
              <a:buNone/>
            </a:pPr>
            <a:r>
              <a:rPr lang="en-US" sz="1250" b="1" dirty="0">
                <a:solidFill>
                  <a:srgbClr val="0B1020"/>
                </a:solidFill>
                <a:latin typeface="Calibri" pitchFamily="34" charset="0"/>
                <a:ea typeface="Calibri" pitchFamily="34" charset="-122"/>
                <a:cs typeface="Calibri" pitchFamily="34" charset="-120"/>
              </a:rPr>
              <a:t>Scientific Functions</a:t>
            </a:r>
            <a:endParaRPr lang="en-US" sz="1250" dirty="0"/>
          </a:p>
        </p:txBody>
      </p:sp>
      <p:sp>
        <p:nvSpPr>
          <p:cNvPr id="25" name="Text 18"/>
          <p:cNvSpPr txBox="1"/>
          <p:nvPr/>
        </p:nvSpPr>
        <p:spPr>
          <a:xfrm>
            <a:off x="6876288" y="2148840"/>
            <a:ext cx="1645920" cy="41148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sqrt, factorial, percentage, pi, e</a:t>
            </a:r>
            <a:endParaRPr lang="en-US" sz="1050" dirty="0"/>
          </a:p>
        </p:txBody>
      </p:sp>
      <p:sp>
        <p:nvSpPr>
          <p:cNvPr id="26" name="Shape 19"/>
          <p:cNvSpPr/>
          <p:nvPr/>
        </p:nvSpPr>
        <p:spPr>
          <a:xfrm>
            <a:off x="457200" y="2834640"/>
            <a:ext cx="1920240" cy="1554480"/>
          </a:xfrm>
          <a:prstGeom prst="roundRect">
            <a:avLst>
              <a:gd name="adj" fmla="val 4706"/>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27" name="Shape 20"/>
          <p:cNvSpPr/>
          <p:nvPr/>
        </p:nvSpPr>
        <p:spPr>
          <a:xfrm>
            <a:off x="621792" y="2999232"/>
            <a:ext cx="457200" cy="457200"/>
          </a:xfrm>
          <a:prstGeom prst="ellipse">
            <a:avLst/>
          </a:prstGeom>
          <a:solidFill>
            <a:srgbClr val="10B981"/>
          </a:solidFill>
          <a:ln w="12700">
            <a:solidFill>
              <a:srgbClr val="10B981"/>
            </a:solidFill>
            <a:prstDash val="solid"/>
          </a:ln>
        </p:spPr>
      </p:sp>
      <p:pic>
        <p:nvPicPr>
          <p:cNvPr id="28" name="Image 4" descr="preencoded.png">    </p:cNvPr>
          <p:cNvPicPr>
            <a:picLocks noChangeAspect="1"/>
          </p:cNvPicPr>
          <p:nvPr/>
        </p:nvPicPr>
        <p:blipFill>
          <a:blip r:embed="rId5"/>
          <a:stretch>
            <a:fillRect/>
          </a:stretch>
        </p:blipFill>
        <p:spPr>
          <a:xfrm>
            <a:off x="740664" y="3118104"/>
            <a:ext cx="219456" cy="219456"/>
          </a:xfrm>
          <a:prstGeom prst="rect">
            <a:avLst/>
          </a:prstGeom>
        </p:spPr>
      </p:pic>
      <p:sp>
        <p:nvSpPr>
          <p:cNvPr id="29" name="Text 21"/>
          <p:cNvSpPr txBox="1"/>
          <p:nvPr/>
        </p:nvSpPr>
        <p:spPr>
          <a:xfrm>
            <a:off x="621792" y="3566160"/>
            <a:ext cx="1645920" cy="320040"/>
          </a:xfrm>
          <a:prstGeom prst="rect">
            <a:avLst/>
          </a:prstGeom>
          <a:noFill/>
          <a:ln/>
        </p:spPr>
        <p:txBody>
          <a:bodyPr wrap="square" lIns="0" tIns="0" rIns="0" bIns="0" rtlCol="0" anchor="ctr"/>
          <a:lstStyle/>
          <a:p>
            <a:pPr indent="0" marL="0">
              <a:buNone/>
            </a:pPr>
            <a:r>
              <a:rPr lang="en-US" sz="1250" b="1" dirty="0">
                <a:solidFill>
                  <a:srgbClr val="0B1020"/>
                </a:solidFill>
                <a:latin typeface="Calibri" pitchFamily="34" charset="0"/>
                <a:ea typeface="Calibri" pitchFamily="34" charset="-122"/>
                <a:cs typeface="Calibri" pitchFamily="34" charset="-120"/>
              </a:rPr>
              <a:t>Variable Management</a:t>
            </a:r>
            <a:endParaRPr lang="en-US" sz="1250" dirty="0"/>
          </a:p>
        </p:txBody>
      </p:sp>
      <p:sp>
        <p:nvSpPr>
          <p:cNvPr id="30" name="Text 22"/>
          <p:cNvSpPr txBox="1"/>
          <p:nvPr/>
        </p:nvSpPr>
        <p:spPr>
          <a:xfrm>
            <a:off x="621792" y="3886200"/>
            <a:ext cx="1645920" cy="41148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Named values, saved in localStorage</a:t>
            </a:r>
            <a:endParaRPr lang="en-US" sz="1050" dirty="0"/>
          </a:p>
        </p:txBody>
      </p:sp>
      <p:sp>
        <p:nvSpPr>
          <p:cNvPr id="31" name="Shape 23"/>
          <p:cNvSpPr/>
          <p:nvPr/>
        </p:nvSpPr>
        <p:spPr>
          <a:xfrm>
            <a:off x="2542032" y="2834640"/>
            <a:ext cx="1920240" cy="1554480"/>
          </a:xfrm>
          <a:prstGeom prst="roundRect">
            <a:avLst>
              <a:gd name="adj" fmla="val 4706"/>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32" name="Shape 24"/>
          <p:cNvSpPr/>
          <p:nvPr/>
        </p:nvSpPr>
        <p:spPr>
          <a:xfrm>
            <a:off x="2706624" y="2999232"/>
            <a:ext cx="457200" cy="457200"/>
          </a:xfrm>
          <a:prstGeom prst="ellipse">
            <a:avLst/>
          </a:prstGeom>
          <a:solidFill>
            <a:srgbClr val="8B5CF6"/>
          </a:solidFill>
          <a:ln w="12700">
            <a:solidFill>
              <a:srgbClr val="8B5CF6"/>
            </a:solidFill>
            <a:prstDash val="solid"/>
          </a:ln>
        </p:spPr>
      </p:sp>
      <p:pic>
        <p:nvPicPr>
          <p:cNvPr id="33" name="Image 5" descr="preencoded.png">    </p:cNvPr>
          <p:cNvPicPr>
            <a:picLocks noChangeAspect="1"/>
          </p:cNvPicPr>
          <p:nvPr/>
        </p:nvPicPr>
        <p:blipFill>
          <a:blip r:embed="rId6"/>
          <a:stretch>
            <a:fillRect/>
          </a:stretch>
        </p:blipFill>
        <p:spPr>
          <a:xfrm>
            <a:off x="2825496" y="3118104"/>
            <a:ext cx="219456" cy="219456"/>
          </a:xfrm>
          <a:prstGeom prst="rect">
            <a:avLst/>
          </a:prstGeom>
        </p:spPr>
      </p:pic>
      <p:sp>
        <p:nvSpPr>
          <p:cNvPr id="34" name="Text 25"/>
          <p:cNvSpPr txBox="1"/>
          <p:nvPr/>
        </p:nvSpPr>
        <p:spPr>
          <a:xfrm>
            <a:off x="2706624" y="3566160"/>
            <a:ext cx="1645920" cy="320040"/>
          </a:xfrm>
          <a:prstGeom prst="rect">
            <a:avLst/>
          </a:prstGeom>
          <a:noFill/>
          <a:ln/>
        </p:spPr>
        <p:txBody>
          <a:bodyPr wrap="square" lIns="0" tIns="0" rIns="0" bIns="0" rtlCol="0" anchor="ctr"/>
          <a:lstStyle/>
          <a:p>
            <a:pPr indent="0" marL="0">
              <a:buNone/>
            </a:pPr>
            <a:r>
              <a:rPr lang="en-US" sz="1250" b="1" dirty="0">
                <a:solidFill>
                  <a:srgbClr val="0B1020"/>
                </a:solidFill>
                <a:latin typeface="Calibri" pitchFamily="34" charset="0"/>
                <a:ea typeface="Calibri" pitchFamily="34" charset="-122"/>
                <a:cs typeface="Calibri" pitchFamily="34" charset="-120"/>
              </a:rPr>
              <a:t>History Management</a:t>
            </a:r>
            <a:endParaRPr lang="en-US" sz="1250" dirty="0"/>
          </a:p>
        </p:txBody>
      </p:sp>
      <p:sp>
        <p:nvSpPr>
          <p:cNvPr id="35" name="Text 26"/>
          <p:cNvSpPr txBox="1"/>
          <p:nvPr/>
        </p:nvSpPr>
        <p:spPr>
          <a:xfrm>
            <a:off x="2706624" y="3886200"/>
            <a:ext cx="1645920" cy="41148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Search, sort, delete records</a:t>
            </a:r>
            <a:endParaRPr lang="en-US" sz="1050" dirty="0"/>
          </a:p>
        </p:txBody>
      </p:sp>
      <p:sp>
        <p:nvSpPr>
          <p:cNvPr id="36" name="Shape 27"/>
          <p:cNvSpPr/>
          <p:nvPr/>
        </p:nvSpPr>
        <p:spPr>
          <a:xfrm>
            <a:off x="4626864" y="2834640"/>
            <a:ext cx="1920240" cy="1554480"/>
          </a:xfrm>
          <a:prstGeom prst="roundRect">
            <a:avLst>
              <a:gd name="adj" fmla="val 4706"/>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37" name="Shape 28"/>
          <p:cNvSpPr/>
          <p:nvPr/>
        </p:nvSpPr>
        <p:spPr>
          <a:xfrm>
            <a:off x="4791456" y="2999232"/>
            <a:ext cx="457200" cy="457200"/>
          </a:xfrm>
          <a:prstGeom prst="ellipse">
            <a:avLst/>
          </a:prstGeom>
          <a:solidFill>
            <a:srgbClr val="5E6EF2"/>
          </a:solidFill>
          <a:ln w="12700">
            <a:solidFill>
              <a:srgbClr val="5E6EF2"/>
            </a:solidFill>
            <a:prstDash val="solid"/>
          </a:ln>
        </p:spPr>
      </p:sp>
      <p:pic>
        <p:nvPicPr>
          <p:cNvPr id="38" name="Image 6" descr="preencoded.png">    </p:cNvPr>
          <p:cNvPicPr>
            <a:picLocks noChangeAspect="1"/>
          </p:cNvPicPr>
          <p:nvPr/>
        </p:nvPicPr>
        <p:blipFill>
          <a:blip r:embed="rId7"/>
          <a:stretch>
            <a:fillRect/>
          </a:stretch>
        </p:blipFill>
        <p:spPr>
          <a:xfrm>
            <a:off x="4910328" y="3118104"/>
            <a:ext cx="219456" cy="219456"/>
          </a:xfrm>
          <a:prstGeom prst="rect">
            <a:avLst/>
          </a:prstGeom>
        </p:spPr>
      </p:pic>
      <p:sp>
        <p:nvSpPr>
          <p:cNvPr id="39" name="Text 29"/>
          <p:cNvSpPr txBox="1"/>
          <p:nvPr/>
        </p:nvSpPr>
        <p:spPr>
          <a:xfrm>
            <a:off x="4791456" y="3566160"/>
            <a:ext cx="1645920" cy="320040"/>
          </a:xfrm>
          <a:prstGeom prst="rect">
            <a:avLst/>
          </a:prstGeom>
          <a:noFill/>
          <a:ln/>
        </p:spPr>
        <p:txBody>
          <a:bodyPr wrap="square" lIns="0" tIns="0" rIns="0" bIns="0" rtlCol="0" anchor="ctr"/>
          <a:lstStyle/>
          <a:p>
            <a:pPr indent="0" marL="0">
              <a:buNone/>
            </a:pPr>
            <a:r>
              <a:rPr lang="en-US" sz="1250" b="1" dirty="0">
                <a:solidFill>
                  <a:srgbClr val="0B1020"/>
                </a:solidFill>
                <a:latin typeface="Calibri" pitchFamily="34" charset="0"/>
                <a:ea typeface="Calibri" pitchFamily="34" charset="-122"/>
                <a:cs typeface="Calibri" pitchFamily="34" charset="-120"/>
              </a:rPr>
              <a:t>Error Handling</a:t>
            </a:r>
            <a:endParaRPr lang="en-US" sz="1250" dirty="0"/>
          </a:p>
        </p:txBody>
      </p:sp>
      <p:sp>
        <p:nvSpPr>
          <p:cNvPr id="40" name="Text 30"/>
          <p:cNvSpPr txBox="1"/>
          <p:nvPr/>
        </p:nvSpPr>
        <p:spPr>
          <a:xfrm>
            <a:off x="4791456" y="3886200"/>
            <a:ext cx="1645920" cy="41148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Clear messages for bad input</a:t>
            </a:r>
            <a:endParaRPr lang="en-US" sz="1050" dirty="0"/>
          </a:p>
        </p:txBody>
      </p:sp>
      <p:sp>
        <p:nvSpPr>
          <p:cNvPr id="41" name="Shape 31"/>
          <p:cNvSpPr/>
          <p:nvPr/>
        </p:nvSpPr>
        <p:spPr>
          <a:xfrm>
            <a:off x="6711696" y="2834640"/>
            <a:ext cx="1920240" cy="1554480"/>
          </a:xfrm>
          <a:prstGeom prst="roundRect">
            <a:avLst>
              <a:gd name="adj" fmla="val 4706"/>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42" name="Shape 32"/>
          <p:cNvSpPr/>
          <p:nvPr/>
        </p:nvSpPr>
        <p:spPr>
          <a:xfrm>
            <a:off x="6876288" y="2999232"/>
            <a:ext cx="457200" cy="457200"/>
          </a:xfrm>
          <a:prstGeom prst="ellipse">
            <a:avLst/>
          </a:prstGeom>
          <a:solidFill>
            <a:srgbClr val="10B981"/>
          </a:solidFill>
          <a:ln w="12700">
            <a:solidFill>
              <a:srgbClr val="10B981"/>
            </a:solidFill>
            <a:prstDash val="solid"/>
          </a:ln>
        </p:spPr>
      </p:sp>
      <p:pic>
        <p:nvPicPr>
          <p:cNvPr id="43" name="Image 7" descr="preencoded.png">    </p:cNvPr>
          <p:cNvPicPr>
            <a:picLocks noChangeAspect="1"/>
          </p:cNvPicPr>
          <p:nvPr/>
        </p:nvPicPr>
        <p:blipFill>
          <a:blip r:embed="rId8"/>
          <a:stretch>
            <a:fillRect/>
          </a:stretch>
        </p:blipFill>
        <p:spPr>
          <a:xfrm>
            <a:off x="6995160" y="3118104"/>
            <a:ext cx="219456" cy="219456"/>
          </a:xfrm>
          <a:prstGeom prst="rect">
            <a:avLst/>
          </a:prstGeom>
        </p:spPr>
      </p:pic>
      <p:sp>
        <p:nvSpPr>
          <p:cNvPr id="44" name="Text 33"/>
          <p:cNvSpPr txBox="1"/>
          <p:nvPr/>
        </p:nvSpPr>
        <p:spPr>
          <a:xfrm>
            <a:off x="6876288" y="3566160"/>
            <a:ext cx="1645920" cy="320040"/>
          </a:xfrm>
          <a:prstGeom prst="rect">
            <a:avLst/>
          </a:prstGeom>
          <a:noFill/>
          <a:ln/>
        </p:spPr>
        <p:txBody>
          <a:bodyPr wrap="square" lIns="0" tIns="0" rIns="0" bIns="0" rtlCol="0" anchor="ctr"/>
          <a:lstStyle/>
          <a:p>
            <a:pPr indent="0" marL="0">
              <a:buNone/>
            </a:pPr>
            <a:r>
              <a:rPr lang="en-US" sz="1250" b="1" dirty="0">
                <a:solidFill>
                  <a:srgbClr val="0B1020"/>
                </a:solidFill>
                <a:latin typeface="Calibri" pitchFamily="34" charset="0"/>
                <a:ea typeface="Calibri" pitchFamily="34" charset="-122"/>
                <a:cs typeface="Calibri" pitchFamily="34" charset="-120"/>
              </a:rPr>
              <a:t>WASM / C++ Engine</a:t>
            </a:r>
            <a:endParaRPr lang="en-US" sz="1250" dirty="0"/>
          </a:p>
        </p:txBody>
      </p:sp>
      <p:sp>
        <p:nvSpPr>
          <p:cNvPr id="45" name="Text 34"/>
          <p:cNvSpPr txBox="1"/>
          <p:nvPr/>
        </p:nvSpPr>
        <p:spPr>
          <a:xfrm>
            <a:off x="6876288" y="3886200"/>
            <a:ext cx="1645920" cy="411480"/>
          </a:xfrm>
          <a:prstGeom prst="rect">
            <a:avLst/>
          </a:prstGeom>
          <a:noFill/>
          <a:ln/>
        </p:spPr>
        <p:txBody>
          <a:bodyPr wrap="square" lIns="0" tIns="0" rIns="0" bIns="0" rtlCol="0" anchor="t"/>
          <a:lstStyle/>
          <a:p>
            <a:pPr indent="0" marL="0">
              <a:buNone/>
            </a:pPr>
            <a:r>
              <a:rPr lang="en-US" sz="1050" dirty="0">
                <a:solidFill>
                  <a:srgbClr val="6B7280"/>
                </a:solidFill>
                <a:latin typeface="Calibri" pitchFamily="34" charset="0"/>
                <a:ea typeface="Calibri" pitchFamily="34" charset="-122"/>
                <a:cs typeface="Calibri" pitchFamily="34" charset="-120"/>
              </a:rPr>
              <a:t>calculator.wasm via JS bindings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0B1020"/>
                </a:solidFill>
                <a:latin typeface="Cambria" pitchFamily="34" charset="0"/>
                <a:ea typeface="Cambria" pitchFamily="34" charset="-122"/>
                <a:cs typeface="Cambria" pitchFamily="34" charset="-120"/>
              </a:rPr>
              <a:t>Implementation / Code Overview</a:t>
            </a:r>
            <a:endParaRPr lang="en-US" sz="2800" dirty="0"/>
          </a:p>
        </p:txBody>
      </p:sp>
      <p:sp>
        <p:nvSpPr>
          <p:cNvPr id="3" name="Text 1"/>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Smart Calculator – Stack-Based Expression Evaluator</a:t>
            </a:r>
            <a:endParaRPr lang="en-US" sz="900" dirty="0"/>
          </a:p>
        </p:txBody>
      </p:sp>
      <p:sp>
        <p:nvSpPr>
          <p:cNvPr id="4" name="Text 2"/>
          <p:cNvSpPr txBox="1"/>
          <p:nvPr/>
        </p:nvSpPr>
        <p:spPr>
          <a:xfrm>
            <a:off x="5029200" y="4773168"/>
            <a:ext cx="3657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Vaishnavi Ojha  |  12405374  |  9</a:t>
            </a:r>
            <a:endParaRPr lang="en-US" sz="900" dirty="0"/>
          </a:p>
        </p:txBody>
      </p:sp>
      <p:sp>
        <p:nvSpPr>
          <p:cNvPr id="6" name="Text 3"/>
          <p:cNvSpPr txBox="1"/>
          <p:nvPr/>
        </p:nvSpPr>
        <p:spPr>
          <a:xfrm>
            <a:off x="457200" y="960120"/>
            <a:ext cx="4023360" cy="201168"/>
          </a:xfrm>
          <a:prstGeom prst="rect">
            <a:avLst/>
          </a:prstGeom>
          <a:noFill/>
          <a:ln/>
        </p:spPr>
        <p:txBody>
          <a:bodyPr wrap="square" lIns="0" tIns="0" rIns="0" bIns="0" rtlCol="0" anchor="ctr"/>
          <a:lstStyle/>
          <a:p>
            <a:pPr indent="0" marL="0">
              <a:buNone/>
            </a:pPr>
            <a:r>
              <a:rPr lang="en-US" sz="950" b="1" dirty="0">
                <a:solidFill>
                  <a:srgbClr val="5E6EF2"/>
                </a:solidFill>
                <a:latin typeface="Calibri" pitchFamily="34" charset="0"/>
                <a:ea typeface="Calibri" pitchFamily="34" charset="-122"/>
                <a:cs typeface="Calibri" pitchFamily="34" charset="-120"/>
              </a:rPr>
              <a:t>C++ – operator precedence  (evaluator.cpp)</a:t>
            </a:r>
            <a:endParaRPr lang="en-US" sz="950" dirty="0"/>
          </a:p>
        </p:txBody>
      </p:sp>
      <p:sp>
        <p:nvSpPr>
          <p:cNvPr id="7" name="Shape 4"/>
          <p:cNvSpPr/>
          <p:nvPr/>
        </p:nvSpPr>
        <p:spPr>
          <a:xfrm>
            <a:off x="457200" y="1179576"/>
            <a:ext cx="4023360" cy="621792"/>
          </a:xfrm>
          <a:prstGeom prst="roundRect">
            <a:avLst>
              <a:gd name="adj" fmla="val 7353"/>
            </a:avLst>
          </a:prstGeom>
          <a:solidFill>
            <a:srgbClr val="111827"/>
          </a:solidFill>
          <a:ln w="12700">
            <a:solidFill>
              <a:srgbClr val="111827"/>
            </a:solidFill>
            <a:prstDash val="solid"/>
          </a:ln>
        </p:spPr>
      </p:sp>
      <p:sp>
        <p:nvSpPr>
          <p:cNvPr id="8" name="Text 5"/>
          <p:cNvSpPr txBox="1"/>
          <p:nvPr/>
        </p:nvSpPr>
        <p:spPr>
          <a:xfrm>
            <a:off x="530352" y="1179576"/>
            <a:ext cx="3877056" cy="621792"/>
          </a:xfrm>
          <a:prstGeom prst="rect">
            <a:avLst/>
          </a:prstGeom>
          <a:noFill/>
          <a:ln/>
        </p:spPr>
        <p:txBody>
          <a:bodyPr wrap="square" lIns="0" tIns="0" rIns="0" bIns="0" rtlCol="0" anchor="ctr"/>
          <a:lstStyle/>
          <a:p>
            <a:pPr indent="0" marL="0">
              <a:buNone/>
            </a:pPr>
            <a:r>
              <a:rPr lang="en-US" sz="800" dirty="0">
                <a:solidFill>
                  <a:srgbClr val="E5E7EB"/>
                </a:solidFill>
                <a:latin typeface="Courier New" pitchFamily="34" charset="0"/>
                <a:ea typeface="Courier New" pitchFamily="34" charset="-122"/>
                <a:cs typeface="Courier New" pitchFamily="34" charset="-120"/>
              </a:rPr>
              <a:t>if (op == "U-" || op == "U+") return 4;</a:t>
            </a:r>
            <a:endParaRPr lang="en-US" sz="800" dirty="0"/>
          </a:p>
          <a:p>
            <a:pPr indent="0" marL="0">
              <a:buNone/>
            </a:pPr>
            <a:r>
              <a:rPr lang="en-US" sz="800" dirty="0">
                <a:solidFill>
                  <a:srgbClr val="E5E7EB"/>
                </a:solidFill>
                <a:latin typeface="Courier New" pitchFamily="34" charset="0"/>
                <a:ea typeface="Courier New" pitchFamily="34" charset="-122"/>
                <a:cs typeface="Courier New" pitchFamily="34" charset="-120"/>
              </a:rPr>
              <a:t>if (op == "^") return 3;</a:t>
            </a:r>
            <a:endParaRPr lang="en-US" sz="800" dirty="0"/>
          </a:p>
          <a:p>
            <a:pPr indent="0" marL="0">
              <a:buNone/>
            </a:pPr>
            <a:r>
              <a:rPr lang="en-US" sz="800" dirty="0">
                <a:solidFill>
                  <a:srgbClr val="E5E7EB"/>
                </a:solidFill>
                <a:latin typeface="Courier New" pitchFamily="34" charset="0"/>
                <a:ea typeface="Courier New" pitchFamily="34" charset="-122"/>
                <a:cs typeface="Courier New" pitchFamily="34" charset="-120"/>
              </a:rPr>
              <a:t>if (op == "*" || op == "/" || op == "%") return 2;</a:t>
            </a:r>
            <a:endParaRPr lang="en-US" sz="800" dirty="0"/>
          </a:p>
          <a:p>
            <a:pPr indent="0" marL="0">
              <a:buNone/>
            </a:pPr>
            <a:r>
              <a:rPr lang="en-US" sz="800" dirty="0">
                <a:solidFill>
                  <a:srgbClr val="E5E7EB"/>
                </a:solidFill>
                <a:latin typeface="Courier New" pitchFamily="34" charset="0"/>
                <a:ea typeface="Courier New" pitchFamily="34" charset="-122"/>
                <a:cs typeface="Courier New" pitchFamily="34" charset="-120"/>
              </a:rPr>
              <a:t>if (op == "+" || op == "-") return 1;</a:t>
            </a:r>
            <a:endParaRPr lang="en-US" sz="800" dirty="0"/>
          </a:p>
        </p:txBody>
      </p:sp>
      <p:sp>
        <p:nvSpPr>
          <p:cNvPr id="9" name="Text 6"/>
          <p:cNvSpPr txBox="1"/>
          <p:nvPr/>
        </p:nvSpPr>
        <p:spPr>
          <a:xfrm>
            <a:off x="457200" y="1819656"/>
            <a:ext cx="4023360" cy="219456"/>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Higher number = binds tighter. Unary sign is highest.</a:t>
            </a:r>
            <a:endParaRPr lang="en-US" sz="950" dirty="0"/>
          </a:p>
        </p:txBody>
      </p:sp>
      <p:sp>
        <p:nvSpPr>
          <p:cNvPr id="10" name="Text 7"/>
          <p:cNvSpPr txBox="1"/>
          <p:nvPr/>
        </p:nvSpPr>
        <p:spPr>
          <a:xfrm>
            <a:off x="457200" y="2148840"/>
            <a:ext cx="4023360" cy="201168"/>
          </a:xfrm>
          <a:prstGeom prst="rect">
            <a:avLst/>
          </a:prstGeom>
          <a:noFill/>
          <a:ln/>
        </p:spPr>
        <p:txBody>
          <a:bodyPr wrap="square" lIns="0" tIns="0" rIns="0" bIns="0" rtlCol="0" anchor="ctr"/>
          <a:lstStyle/>
          <a:p>
            <a:pPr indent="0" marL="0">
              <a:buNone/>
            </a:pPr>
            <a:r>
              <a:rPr lang="en-US" sz="950" b="1" dirty="0">
                <a:solidFill>
                  <a:srgbClr val="5E6EF2"/>
                </a:solidFill>
                <a:latin typeface="Calibri" pitchFamily="34" charset="0"/>
                <a:ea typeface="Calibri" pitchFamily="34" charset="-122"/>
                <a:cs typeface="Calibri" pitchFamily="34" charset="-120"/>
              </a:rPr>
              <a:t>C++ – stack pop rule  (evaluator.cpp)</a:t>
            </a:r>
            <a:endParaRPr lang="en-US" sz="950" dirty="0"/>
          </a:p>
        </p:txBody>
      </p:sp>
      <p:sp>
        <p:nvSpPr>
          <p:cNvPr id="11" name="Shape 8"/>
          <p:cNvSpPr/>
          <p:nvPr/>
        </p:nvSpPr>
        <p:spPr>
          <a:xfrm>
            <a:off x="457200" y="2368296"/>
            <a:ext cx="4023360" cy="896112"/>
          </a:xfrm>
          <a:prstGeom prst="roundRect">
            <a:avLst>
              <a:gd name="adj" fmla="val 5102"/>
            </a:avLst>
          </a:prstGeom>
          <a:solidFill>
            <a:srgbClr val="111827"/>
          </a:solidFill>
          <a:ln w="12700">
            <a:solidFill>
              <a:srgbClr val="111827"/>
            </a:solidFill>
            <a:prstDash val="solid"/>
          </a:ln>
        </p:spPr>
      </p:sp>
      <p:sp>
        <p:nvSpPr>
          <p:cNvPr id="12" name="Text 9"/>
          <p:cNvSpPr txBox="1"/>
          <p:nvPr/>
        </p:nvSpPr>
        <p:spPr>
          <a:xfrm>
            <a:off x="530352" y="2368296"/>
            <a:ext cx="3877056" cy="896112"/>
          </a:xfrm>
          <a:prstGeom prst="rect">
            <a:avLst/>
          </a:prstGeom>
          <a:noFill/>
          <a:ln/>
        </p:spPr>
        <p:txBody>
          <a:bodyPr wrap="square" lIns="0" tIns="0" rIns="0" bIns="0" rtlCol="0" anchor="ctr"/>
          <a:lstStyle/>
          <a:p>
            <a:pPr indent="0" marL="0">
              <a:buNone/>
            </a:pPr>
            <a:r>
              <a:rPr lang="en-US" sz="800" dirty="0">
                <a:solidFill>
                  <a:srgbClr val="E5E7EB"/>
                </a:solidFill>
                <a:latin typeface="Courier New" pitchFamily="34" charset="0"/>
                <a:ea typeface="Courier New" pitchFamily="34" charset="-122"/>
                <a:cs typeface="Courier New" pitchFamily="34" charset="-120"/>
              </a:rPr>
              <a:t>if (p2 &gt; p1 || (p2 == p1 &amp;&amp; isLeftAssociative(o1))) {</a:t>
            </a:r>
            <a:endParaRPr lang="en-US" sz="800" dirty="0"/>
          </a:p>
          <a:p>
            <a:pPr indent="0" marL="0">
              <a:buNone/>
            </a:pPr>
            <a:r>
              <a:rPr lang="en-US" sz="800" dirty="0">
                <a:solidFill>
                  <a:srgbClr val="E5E7EB"/>
                </a:solidFill>
                <a:latin typeface="Courier New" pitchFamily="34" charset="0"/>
                <a:ea typeface="Courier New" pitchFamily="34" charset="-122"/>
                <a:cs typeface="Courier New" pitchFamily="34" charset="-120"/>
              </a:rPr>
              <a:t>    postfixList.push_back(o2);</a:t>
            </a:r>
            <a:endParaRPr lang="en-US" sz="800" dirty="0"/>
          </a:p>
          <a:p>
            <a:pPr indent="0" marL="0">
              <a:buNone/>
            </a:pPr>
            <a:r>
              <a:rPr lang="en-US" sz="800" dirty="0">
                <a:solidFill>
                  <a:srgbClr val="E5E7EB"/>
                </a:solidFill>
                <a:latin typeface="Courier New" pitchFamily="34" charset="0"/>
                <a:ea typeface="Courier New" pitchFamily="34" charset="-122"/>
                <a:cs typeface="Courier New" pitchFamily="34" charset="-120"/>
              </a:rPr>
              <a:t>    opStack.pop();</a:t>
            </a:r>
            <a:endParaRPr lang="en-US" sz="800" dirty="0"/>
          </a:p>
          <a:p>
            <a:pPr indent="0" marL="0">
              <a:buNone/>
            </a:pPr>
            <a:r>
              <a:rPr lang="en-US" sz="800" dirty="0">
                <a:solidFill>
                  <a:srgbClr val="E5E7EB"/>
                </a:solidFill>
                <a:latin typeface="Courier New" pitchFamily="34" charset="0"/>
                <a:ea typeface="Courier New" pitchFamily="34" charset="-122"/>
                <a:cs typeface="Courier New" pitchFamily="34" charset="-120"/>
              </a:rPr>
              <a:t>}</a:t>
            </a:r>
            <a:endParaRPr lang="en-US" sz="800" dirty="0"/>
          </a:p>
        </p:txBody>
      </p:sp>
      <p:sp>
        <p:nvSpPr>
          <p:cNvPr id="13" name="Text 10"/>
          <p:cNvSpPr txBox="1"/>
          <p:nvPr/>
        </p:nvSpPr>
        <p:spPr>
          <a:xfrm>
            <a:off x="457200" y="3282696"/>
            <a:ext cx="4023360" cy="219456"/>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Pop if top has higher precedence, or equal and left-associative.</a:t>
            </a:r>
            <a:endParaRPr lang="en-US" sz="950" dirty="0"/>
          </a:p>
        </p:txBody>
      </p:sp>
      <p:sp>
        <p:nvSpPr>
          <p:cNvPr id="14" name="Text 11"/>
          <p:cNvSpPr txBox="1"/>
          <p:nvPr/>
        </p:nvSpPr>
        <p:spPr>
          <a:xfrm>
            <a:off x="457200" y="3611880"/>
            <a:ext cx="4023360" cy="201168"/>
          </a:xfrm>
          <a:prstGeom prst="rect">
            <a:avLst/>
          </a:prstGeom>
          <a:noFill/>
          <a:ln/>
        </p:spPr>
        <p:txBody>
          <a:bodyPr wrap="square" lIns="0" tIns="0" rIns="0" bIns="0" rtlCol="0" anchor="ctr"/>
          <a:lstStyle/>
          <a:p>
            <a:pPr indent="0" marL="0">
              <a:buNone/>
            </a:pPr>
            <a:r>
              <a:rPr lang="en-US" sz="950" b="1" dirty="0">
                <a:solidFill>
                  <a:srgbClr val="5E6EF2"/>
                </a:solidFill>
                <a:latin typeface="Calibri" pitchFamily="34" charset="0"/>
                <a:ea typeface="Calibri" pitchFamily="34" charset="-122"/>
                <a:cs typeface="Calibri" pitchFamily="34" charset="-120"/>
              </a:rPr>
              <a:t>C++ – unary detection in tokenizer</a:t>
            </a:r>
            <a:endParaRPr lang="en-US" sz="950" dirty="0"/>
          </a:p>
        </p:txBody>
      </p:sp>
      <p:sp>
        <p:nvSpPr>
          <p:cNvPr id="15" name="Shape 12"/>
          <p:cNvSpPr/>
          <p:nvPr/>
        </p:nvSpPr>
        <p:spPr>
          <a:xfrm>
            <a:off x="457200" y="3831336"/>
            <a:ext cx="4023360" cy="484632"/>
          </a:xfrm>
          <a:prstGeom prst="roundRect">
            <a:avLst>
              <a:gd name="adj" fmla="val 9434"/>
            </a:avLst>
          </a:prstGeom>
          <a:solidFill>
            <a:srgbClr val="111827"/>
          </a:solidFill>
          <a:ln w="12700">
            <a:solidFill>
              <a:srgbClr val="111827"/>
            </a:solidFill>
            <a:prstDash val="solid"/>
          </a:ln>
        </p:spPr>
      </p:sp>
      <p:sp>
        <p:nvSpPr>
          <p:cNvPr id="16" name="Text 13"/>
          <p:cNvSpPr txBox="1"/>
          <p:nvPr/>
        </p:nvSpPr>
        <p:spPr>
          <a:xfrm>
            <a:off x="530352" y="3831336"/>
            <a:ext cx="3877056" cy="484632"/>
          </a:xfrm>
          <a:prstGeom prst="rect">
            <a:avLst/>
          </a:prstGeom>
          <a:noFill/>
          <a:ln/>
        </p:spPr>
        <p:txBody>
          <a:bodyPr wrap="square" lIns="0" tIns="0" rIns="0" bIns="0" rtlCol="0" anchor="ctr"/>
          <a:lstStyle/>
          <a:p>
            <a:pPr indent="0" marL="0">
              <a:buNone/>
            </a:pPr>
            <a:r>
              <a:rPr lang="en-US" sz="800" dirty="0">
                <a:solidFill>
                  <a:srgbClr val="E5E7EB"/>
                </a:solidFill>
                <a:latin typeface="Courier New" pitchFamily="34" charset="0"/>
                <a:ea typeface="Courier New" pitchFamily="34" charset="-122"/>
                <a:cs typeface="Courier New" pitchFamily="34" charset="-120"/>
              </a:rPr>
              <a:t>if (prev.type == Token::OPERATOR ||</a:t>
            </a:r>
            <a:endParaRPr lang="en-US" sz="800" dirty="0"/>
          </a:p>
          <a:p>
            <a:pPr indent="0" marL="0">
              <a:buNone/>
            </a:pPr>
            <a:r>
              <a:rPr lang="en-US" sz="800" dirty="0">
                <a:solidFill>
                  <a:srgbClr val="E5E7EB"/>
                </a:solidFill>
                <a:latin typeface="Courier New" pitchFamily="34" charset="0"/>
                <a:ea typeface="Courier New" pitchFamily="34" charset="-122"/>
                <a:cs typeface="Courier New" pitchFamily="34" charset="-120"/>
              </a:rPr>
              <a:t>    prev.type == Token::LPAREN)</a:t>
            </a:r>
            <a:endParaRPr lang="en-US" sz="800" dirty="0"/>
          </a:p>
          <a:p>
            <a:pPr indent="0" marL="0">
              <a:buNone/>
            </a:pPr>
            <a:r>
              <a:rPr lang="en-US" sz="800" dirty="0">
                <a:solidFill>
                  <a:srgbClr val="E5E7EB"/>
                </a:solidFill>
                <a:latin typeface="Courier New" pitchFamily="34" charset="0"/>
                <a:ea typeface="Courier New" pitchFamily="34" charset="-122"/>
                <a:cs typeface="Courier New" pitchFamily="34" charset="-120"/>
              </a:rPr>
              <a:t>    isUnary = true;   // becomes "U-" / "U+"</a:t>
            </a:r>
            <a:endParaRPr lang="en-US" sz="800" dirty="0"/>
          </a:p>
        </p:txBody>
      </p:sp>
      <p:sp>
        <p:nvSpPr>
          <p:cNvPr id="17" name="Text 14"/>
          <p:cNvSpPr txBox="1"/>
          <p:nvPr/>
        </p:nvSpPr>
        <p:spPr>
          <a:xfrm>
            <a:off x="457200" y="4334256"/>
            <a:ext cx="4023360" cy="219456"/>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A sign after an operator or "(" is unary.</a:t>
            </a:r>
            <a:endParaRPr lang="en-US" sz="950" dirty="0"/>
          </a:p>
        </p:txBody>
      </p:sp>
      <p:sp>
        <p:nvSpPr>
          <p:cNvPr id="18" name="Text 15"/>
          <p:cNvSpPr txBox="1"/>
          <p:nvPr/>
        </p:nvSpPr>
        <p:spPr>
          <a:xfrm>
            <a:off x="4663440" y="960120"/>
            <a:ext cx="4023360" cy="201168"/>
          </a:xfrm>
          <a:prstGeom prst="rect">
            <a:avLst/>
          </a:prstGeom>
          <a:noFill/>
          <a:ln/>
        </p:spPr>
        <p:txBody>
          <a:bodyPr wrap="square" lIns="0" tIns="0" rIns="0" bIns="0" rtlCol="0" anchor="ctr"/>
          <a:lstStyle/>
          <a:p>
            <a:pPr indent="0" marL="0">
              <a:buNone/>
            </a:pPr>
            <a:r>
              <a:rPr lang="en-US" sz="950" b="1" dirty="0">
                <a:solidFill>
                  <a:srgbClr val="5E6EF2"/>
                </a:solidFill>
                <a:latin typeface="Calibri" pitchFamily="34" charset="0"/>
                <a:ea typeface="Calibri" pitchFamily="34" charset="-122"/>
                <a:cs typeface="Calibri" pitchFamily="34" charset="-120"/>
              </a:rPr>
              <a:t>C++ – WebAssembly binding  (wasm_bindings.cpp)</a:t>
            </a:r>
            <a:endParaRPr lang="en-US" sz="950" dirty="0"/>
          </a:p>
        </p:txBody>
      </p:sp>
      <p:sp>
        <p:nvSpPr>
          <p:cNvPr id="19" name="Shape 16"/>
          <p:cNvSpPr/>
          <p:nvPr/>
        </p:nvSpPr>
        <p:spPr>
          <a:xfrm>
            <a:off x="4663440" y="1179576"/>
            <a:ext cx="4023360" cy="1307592"/>
          </a:xfrm>
          <a:prstGeom prst="roundRect">
            <a:avLst>
              <a:gd name="adj" fmla="val 3497"/>
            </a:avLst>
          </a:prstGeom>
          <a:solidFill>
            <a:srgbClr val="111827"/>
          </a:solidFill>
          <a:ln w="12700">
            <a:solidFill>
              <a:srgbClr val="111827"/>
            </a:solidFill>
            <a:prstDash val="solid"/>
          </a:ln>
        </p:spPr>
      </p:sp>
      <p:sp>
        <p:nvSpPr>
          <p:cNvPr id="20" name="Text 17"/>
          <p:cNvSpPr txBox="1"/>
          <p:nvPr/>
        </p:nvSpPr>
        <p:spPr>
          <a:xfrm>
            <a:off x="4736592" y="1179576"/>
            <a:ext cx="3877056" cy="1307592"/>
          </a:xfrm>
          <a:prstGeom prst="rect">
            <a:avLst/>
          </a:prstGeom>
          <a:noFill/>
          <a:ln/>
        </p:spPr>
        <p:txBody>
          <a:bodyPr wrap="square" lIns="0" tIns="0" rIns="0" bIns="0" rtlCol="0" anchor="ctr"/>
          <a:lstStyle/>
          <a:p>
            <a:pPr indent="0" marL="0">
              <a:buNone/>
            </a:pPr>
            <a:r>
              <a:rPr lang="en-US" sz="800" dirty="0">
                <a:solidFill>
                  <a:srgbClr val="E5E7EB"/>
                </a:solidFill>
                <a:latin typeface="Courier New" pitchFamily="34" charset="0"/>
                <a:ea typeface="Courier New" pitchFamily="34" charset="-122"/>
                <a:cs typeface="Courier New" pitchFamily="34" charset="-120"/>
              </a:rPr>
              <a:t>extern "C" {</a:t>
            </a:r>
            <a:endParaRPr lang="en-US" sz="800" dirty="0"/>
          </a:p>
          <a:p>
            <a:pPr indent="0" marL="0">
              <a:buNone/>
            </a:pPr>
            <a:r>
              <a:rPr lang="en-US" sz="800" dirty="0">
                <a:solidFill>
                  <a:srgbClr val="E5E7EB"/>
                </a:solidFill>
                <a:latin typeface="Courier New" pitchFamily="34" charset="0"/>
                <a:ea typeface="Courier New" pitchFamily="34" charset="-122"/>
                <a:cs typeface="Courier New" pitchFamily="34" charset="-120"/>
              </a:rPr>
              <a:t>  const char* evaluate_expression(const char* expr) {</a:t>
            </a:r>
            <a:endParaRPr lang="en-US" sz="800" dirty="0"/>
          </a:p>
          <a:p>
            <a:pPr indent="0" marL="0">
              <a:buNone/>
            </a:pPr>
            <a:r>
              <a:rPr lang="en-US" sz="800" dirty="0">
                <a:solidFill>
                  <a:srgbClr val="E5E7EB"/>
                </a:solidFill>
                <a:latin typeface="Courier New" pitchFamily="34" charset="0"/>
                <a:ea typeface="Courier New" pitchFamily="34" charset="-122"/>
                <a:cs typeface="Courier New" pitchFamily="34" charset="-120"/>
              </a:rPr>
              <a:t>    bool ok = evaluator.evaluate(expr, postfix,</a:t>
            </a:r>
            <a:endParaRPr lang="en-US" sz="800" dirty="0"/>
          </a:p>
          <a:p>
            <a:pPr indent="0" marL="0">
              <a:buNone/>
            </a:pPr>
            <a:r>
              <a:rPr lang="en-US" sz="800" dirty="0">
                <a:solidFill>
                  <a:srgbClr val="E5E7EB"/>
                </a:solidFill>
                <a:latin typeface="Courier New" pitchFamily="34" charset="0"/>
                <a:ea typeface="Courier New" pitchFamily="34" charset="-122"/>
                <a:cs typeface="Courier New" pitchFamily="34" charset="-120"/>
              </a:rPr>
              <a:t>                                 answer, error);</a:t>
            </a:r>
            <a:endParaRPr lang="en-US" sz="800" dirty="0"/>
          </a:p>
          <a:p>
            <a:pPr indent="0" marL="0">
              <a:buNone/>
            </a:pPr>
            <a:r>
              <a:rPr lang="en-US" sz="800" dirty="0">
                <a:solidFill>
                  <a:srgbClr val="E5E7EB"/>
                </a:solidFill>
                <a:latin typeface="Courier New" pitchFamily="34" charset="0"/>
                <a:ea typeface="Courier New" pitchFamily="34" charset="-122"/>
                <a:cs typeface="Courier New" pitchFamily="34" charset="-120"/>
              </a:rPr>
              <a:t>    ... // builds JSON result</a:t>
            </a:r>
            <a:endParaRPr lang="en-US" sz="800" dirty="0"/>
          </a:p>
          <a:p>
            <a:pPr indent="0" marL="0">
              <a:buNone/>
            </a:pPr>
            <a:r>
              <a:rPr lang="en-US" sz="800" dirty="0">
                <a:solidFill>
                  <a:srgbClr val="E5E7EB"/>
                </a:solidFill>
                <a:latin typeface="Courier New" pitchFamily="34" charset="0"/>
                <a:ea typeface="Courier New" pitchFamily="34" charset="-122"/>
                <a:cs typeface="Courier New" pitchFamily="34" charset="-120"/>
              </a:rPr>
              <a:t>  } }</a:t>
            </a:r>
            <a:endParaRPr lang="en-US" sz="800" dirty="0"/>
          </a:p>
        </p:txBody>
      </p:sp>
      <p:sp>
        <p:nvSpPr>
          <p:cNvPr id="21" name="Text 18"/>
          <p:cNvSpPr txBox="1"/>
          <p:nvPr/>
        </p:nvSpPr>
        <p:spPr>
          <a:xfrm>
            <a:off x="4663440" y="2505456"/>
            <a:ext cx="4023360" cy="219456"/>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Exports the evaluator to JavaScript; returns a JSON string.</a:t>
            </a:r>
            <a:endParaRPr lang="en-US" sz="950" dirty="0"/>
          </a:p>
        </p:txBody>
      </p:sp>
      <p:sp>
        <p:nvSpPr>
          <p:cNvPr id="22" name="Text 19"/>
          <p:cNvSpPr txBox="1"/>
          <p:nvPr/>
        </p:nvSpPr>
        <p:spPr>
          <a:xfrm>
            <a:off x="4663440" y="2880360"/>
            <a:ext cx="4023360" cy="201168"/>
          </a:xfrm>
          <a:prstGeom prst="rect">
            <a:avLst/>
          </a:prstGeom>
          <a:noFill/>
          <a:ln/>
        </p:spPr>
        <p:txBody>
          <a:bodyPr wrap="square" lIns="0" tIns="0" rIns="0" bIns="0" rtlCol="0" anchor="ctr"/>
          <a:lstStyle/>
          <a:p>
            <a:pPr indent="0" marL="0">
              <a:buNone/>
            </a:pPr>
            <a:r>
              <a:rPr lang="en-US" sz="950" b="1" dirty="0">
                <a:solidFill>
                  <a:srgbClr val="5E6EF2"/>
                </a:solidFill>
                <a:latin typeface="Calibri" pitchFamily="34" charset="0"/>
                <a:ea typeface="Calibri" pitchFamily="34" charset="-122"/>
                <a:cs typeface="Calibri" pitchFamily="34" charset="-120"/>
              </a:rPr>
              <a:t>JavaScript – calling WASM  (app.js)</a:t>
            </a:r>
            <a:endParaRPr lang="en-US" sz="950" dirty="0"/>
          </a:p>
        </p:txBody>
      </p:sp>
      <p:sp>
        <p:nvSpPr>
          <p:cNvPr id="23" name="Shape 20"/>
          <p:cNvSpPr/>
          <p:nvPr/>
        </p:nvSpPr>
        <p:spPr>
          <a:xfrm>
            <a:off x="4663440" y="3099816"/>
            <a:ext cx="4023360" cy="1124712"/>
          </a:xfrm>
          <a:prstGeom prst="roundRect">
            <a:avLst>
              <a:gd name="adj" fmla="val 4065"/>
            </a:avLst>
          </a:prstGeom>
          <a:solidFill>
            <a:srgbClr val="111827"/>
          </a:solidFill>
          <a:ln w="12700">
            <a:solidFill>
              <a:srgbClr val="111827"/>
            </a:solidFill>
            <a:prstDash val="solid"/>
          </a:ln>
        </p:spPr>
      </p:sp>
      <p:sp>
        <p:nvSpPr>
          <p:cNvPr id="24" name="Text 21"/>
          <p:cNvSpPr txBox="1"/>
          <p:nvPr/>
        </p:nvSpPr>
        <p:spPr>
          <a:xfrm>
            <a:off x="4736592" y="3099816"/>
            <a:ext cx="3877056" cy="1124712"/>
          </a:xfrm>
          <a:prstGeom prst="rect">
            <a:avLst/>
          </a:prstGeom>
          <a:noFill/>
          <a:ln/>
        </p:spPr>
        <p:txBody>
          <a:bodyPr wrap="square" lIns="0" tIns="0" rIns="0" bIns="0" rtlCol="0" anchor="ctr"/>
          <a:lstStyle/>
          <a:p>
            <a:pPr indent="0" marL="0">
              <a:buNone/>
            </a:pPr>
            <a:r>
              <a:rPr lang="en-US" sz="800" dirty="0">
                <a:solidFill>
                  <a:srgbClr val="E5E7EB"/>
                </a:solidFill>
                <a:latin typeface="Courier New" pitchFamily="34" charset="0"/>
                <a:ea typeface="Courier New" pitchFamily="34" charset="-122"/>
                <a:cs typeface="Courier New" pitchFamily="34" charset="-120"/>
              </a:rPr>
              <a:t>const { instance } =</a:t>
            </a:r>
            <a:endParaRPr lang="en-US" sz="800" dirty="0"/>
          </a:p>
          <a:p>
            <a:pPr indent="0" marL="0">
              <a:buNone/>
            </a:pPr>
            <a:r>
              <a:rPr lang="en-US" sz="800" dirty="0">
                <a:solidFill>
                  <a:srgbClr val="E5E7EB"/>
                </a:solidFill>
                <a:latin typeface="Courier New" pitchFamily="34" charset="0"/>
                <a:ea typeface="Courier New" pitchFamily="34" charset="-122"/>
                <a:cs typeface="Courier New" pitchFamily="34" charset="-120"/>
              </a:rPr>
              <a:t>  await WebAssembly.instantiate(bytes, importObject);</a:t>
            </a:r>
            <a:endParaRPr lang="en-US" sz="800" dirty="0"/>
          </a:p>
          <a:p>
            <a:pPr indent="0" marL="0">
              <a:buNone/>
            </a:pPr>
            <a:r>
              <a:rPr lang="en-US" sz="800" dirty="0">
                <a:solidFill>
                  <a:srgbClr val="E5E7EB"/>
                </a:solidFill>
                <a:latin typeface="Courier New" pitchFamily="34" charset="0"/>
                <a:ea typeface="Courier New" pitchFamily="34" charset="-122"/>
                <a:cs typeface="Courier New" pitchFamily="34" charset="-120"/>
              </a:rPr>
              <a:t>const resultJsonPtr =</a:t>
            </a:r>
            <a:endParaRPr lang="en-US" sz="800" dirty="0"/>
          </a:p>
          <a:p>
            <a:pPr indent="0" marL="0">
              <a:buNone/>
            </a:pPr>
            <a:r>
              <a:rPr lang="en-US" sz="800" dirty="0">
                <a:solidFill>
                  <a:srgbClr val="E5E7EB"/>
                </a:solidFill>
                <a:latin typeface="Courier New" pitchFamily="34" charset="0"/>
                <a:ea typeface="Courier New" pitchFamily="34" charset="-122"/>
                <a:cs typeface="Courier New" pitchFamily="34" charset="-120"/>
              </a:rPr>
              <a:t>  wasmExports.evaluate_expression(exprPtr);</a:t>
            </a:r>
            <a:endParaRPr lang="en-US" sz="800" dirty="0"/>
          </a:p>
          <a:p>
            <a:pPr indent="0" marL="0">
              <a:buNone/>
            </a:pPr>
            <a:r>
              <a:rPr lang="en-US" sz="800" dirty="0">
                <a:solidFill>
                  <a:srgbClr val="E5E7EB"/>
                </a:solidFill>
                <a:latin typeface="Courier New" pitchFamily="34" charset="0"/>
                <a:ea typeface="Courier New" pitchFamily="34" charset="-122"/>
                <a:cs typeface="Courier New" pitchFamily="34" charset="-120"/>
              </a:rPr>
              <a:t>const resultObj = JSON.parse(wasmToString(resultJsonPtr));</a:t>
            </a:r>
            <a:endParaRPr lang="en-US" sz="800" dirty="0"/>
          </a:p>
        </p:txBody>
      </p:sp>
      <p:sp>
        <p:nvSpPr>
          <p:cNvPr id="25" name="Text 22"/>
          <p:cNvSpPr txBox="1"/>
          <p:nvPr/>
        </p:nvSpPr>
        <p:spPr>
          <a:xfrm>
            <a:off x="4663440" y="4242816"/>
            <a:ext cx="4023360" cy="219456"/>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Loads calculator.wasm, calls the C++ function, parses the JSON reply.</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0B1020"/>
                </a:solidFill>
                <a:latin typeface="Cambria" pitchFamily="34" charset="0"/>
                <a:ea typeface="Cambria" pitchFamily="34" charset="-122"/>
                <a:cs typeface="Cambria" pitchFamily="34" charset="-120"/>
              </a:rPr>
              <a:t>User Interface / Screenshots</a:t>
            </a:r>
            <a:endParaRPr lang="en-US" sz="2800" dirty="0"/>
          </a:p>
        </p:txBody>
      </p:sp>
      <p:sp>
        <p:nvSpPr>
          <p:cNvPr id="3" name="Text 1"/>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Smart Calculator – Stack-Based Expression Evaluator</a:t>
            </a:r>
            <a:endParaRPr lang="en-US" sz="900" dirty="0"/>
          </a:p>
        </p:txBody>
      </p:sp>
      <p:sp>
        <p:nvSpPr>
          <p:cNvPr id="4" name="Text 2"/>
          <p:cNvSpPr txBox="1"/>
          <p:nvPr/>
        </p:nvSpPr>
        <p:spPr>
          <a:xfrm>
            <a:off x="5029200" y="4773168"/>
            <a:ext cx="3657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Vaishnavi Ojha  |  12405374  |  10</a:t>
            </a:r>
            <a:endParaRPr lang="en-US" sz="900" dirty="0"/>
          </a:p>
        </p:txBody>
      </p:sp>
      <p:pic>
        <p:nvPicPr>
          <p:cNvPr id="6" name="Image 0" descr="s_calc.png">    </p:cNvPr>
          <p:cNvPicPr>
            <a:picLocks noChangeAspect="1"/>
          </p:cNvPicPr>
          <p:nvPr/>
        </p:nvPicPr>
        <p:blipFill>
          <a:blip r:embed="rId1"/>
          <a:stretch>
            <a:fillRect/>
          </a:stretch>
        </p:blipFill>
        <p:spPr>
          <a:xfrm>
            <a:off x="457200" y="1005840"/>
            <a:ext cx="4663440" cy="2770632"/>
          </a:xfrm>
          <a:prstGeom prst="rect">
            <a:avLst/>
          </a:prstGeom>
          <a:effectLst>
            <a:outerShdw sx="100000" sy="100000" kx="0" ky="0" algn="bl" rotWithShape="0" blurRad="101600" dist="25400" dir="5400000">
              <a:srgbClr val="000000">
                <a:alpha val="12000"/>
              </a:srgbClr>
            </a:outerShdw>
          </a:effectLst>
        </p:spPr>
      </p:pic>
      <p:sp>
        <p:nvSpPr>
          <p:cNvPr id="7" name="Text 3"/>
          <p:cNvSpPr txBox="1"/>
          <p:nvPr/>
        </p:nvSpPr>
        <p:spPr>
          <a:xfrm>
            <a:off x="457200" y="3840480"/>
            <a:ext cx="4663440" cy="274320"/>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Calculator: expression, postfix output and result shown together</a:t>
            </a:r>
            <a:endParaRPr lang="en-US" sz="1050" dirty="0"/>
          </a:p>
        </p:txBody>
      </p:sp>
      <p:pic>
        <p:nvPicPr>
          <p:cNvPr id="8" name="Image 1" descr="s_history.png">    </p:cNvPr>
          <p:cNvPicPr>
            <a:picLocks noChangeAspect="1"/>
          </p:cNvPicPr>
          <p:nvPr/>
        </p:nvPicPr>
        <p:blipFill>
          <a:blip r:embed="rId2"/>
          <a:stretch>
            <a:fillRect/>
          </a:stretch>
        </p:blipFill>
        <p:spPr>
          <a:xfrm>
            <a:off x="5349240" y="1005840"/>
            <a:ext cx="3337560" cy="1984248"/>
          </a:xfrm>
          <a:prstGeom prst="rect">
            <a:avLst/>
          </a:prstGeom>
          <a:effectLst>
            <a:outerShdw sx="100000" sy="100000" kx="0" ky="0" algn="bl" rotWithShape="0" blurRad="101600" dist="25400" dir="5400000">
              <a:srgbClr val="000000">
                <a:alpha val="12000"/>
              </a:srgbClr>
            </a:outerShdw>
          </a:effectLst>
        </p:spPr>
      </p:pic>
      <p:sp>
        <p:nvSpPr>
          <p:cNvPr id="9" name="Text 4"/>
          <p:cNvSpPr txBox="1"/>
          <p:nvPr/>
        </p:nvSpPr>
        <p:spPr>
          <a:xfrm>
            <a:off x="5349240" y="3044952"/>
            <a:ext cx="3337560" cy="274320"/>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History: date, postfix stack, result; search, sort, delete</a:t>
            </a:r>
            <a:endParaRPr lang="en-US" sz="1050" dirty="0"/>
          </a:p>
        </p:txBody>
      </p:sp>
      <p:sp>
        <p:nvSpPr>
          <p:cNvPr id="10" name="Shape 5"/>
          <p:cNvSpPr/>
          <p:nvPr/>
        </p:nvSpPr>
        <p:spPr>
          <a:xfrm>
            <a:off x="5349240" y="3429000"/>
            <a:ext cx="3337560" cy="960120"/>
          </a:xfrm>
          <a:prstGeom prst="roundRect">
            <a:avLst>
              <a:gd name="adj" fmla="val 7619"/>
            </a:avLst>
          </a:prstGeom>
          <a:solidFill>
            <a:srgbClr val="0B1020"/>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11" name="Text 6"/>
          <p:cNvSpPr txBox="1"/>
          <p:nvPr/>
        </p:nvSpPr>
        <p:spPr>
          <a:xfrm>
            <a:off x="5486400" y="3474720"/>
            <a:ext cx="3108960" cy="868680"/>
          </a:xfrm>
          <a:prstGeom prst="rect">
            <a:avLst/>
          </a:prstGeom>
          <a:noFill/>
          <a:ln/>
        </p:spPr>
        <p:txBody>
          <a:bodyPr wrap="square" lIns="0" tIns="0" rIns="0" bIns="0" rtlCol="0" anchor="ctr"/>
          <a:lstStyle/>
          <a:p>
            <a:pPr indent="0" marL="0">
              <a:buNone/>
            </a:pPr>
            <a:r>
              <a:rPr lang="en-US" sz="1150" b="1" dirty="0">
                <a:solidFill>
                  <a:srgbClr val="C7D2FE"/>
                </a:solidFill>
                <a:latin typeface="Calibri" pitchFamily="34" charset="0"/>
                <a:ea typeface="Calibri" pitchFamily="34" charset="-122"/>
                <a:cs typeface="Calibri" pitchFamily="34" charset="-120"/>
              </a:rPr>
              <a:t>Also in the app</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Help page (user manual)</a:t>
            </a:r>
            <a:endParaRPr lang="en-US" sz="1050" dirty="0"/>
          </a:p>
          <a:p>
            <a:pPr marL="342900" indent="-342900">
              <a:buSzPct val="100000"/>
              <a:buChar char="•"/>
            </a:pPr>
            <a:r>
              <a:rPr lang="en-US" sz="1050" dirty="0">
                <a:solidFill>
                  <a:srgbClr val="FFFFFF"/>
                </a:solidFill>
                <a:latin typeface="Calibri" pitchFamily="34" charset="0"/>
                <a:ea typeface="Calibri" pitchFamily="34" charset="-122"/>
                <a:cs typeface="Calibri" pitchFamily="34" charset="-120"/>
              </a:rPr>
              <a:t>Settings: 3 themes, reset storage, WASM status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0B1020"/>
                </a:solidFill>
                <a:latin typeface="Cambria" pitchFamily="34" charset="0"/>
                <a:ea typeface="Cambria" pitchFamily="34" charset="-122"/>
                <a:cs typeface="Cambria" pitchFamily="34" charset="-120"/>
              </a:rPr>
              <a:t>Advantages, Applications &amp; Future Scope</a:t>
            </a:r>
            <a:endParaRPr lang="en-US" sz="2800" dirty="0"/>
          </a:p>
        </p:txBody>
      </p:sp>
      <p:sp>
        <p:nvSpPr>
          <p:cNvPr id="3" name="Text 1"/>
          <p:cNvSpPr txBox="1"/>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Smart Calculator – Stack-Based Expression Evaluator</a:t>
            </a:r>
            <a:endParaRPr lang="en-US" sz="900" dirty="0"/>
          </a:p>
        </p:txBody>
      </p:sp>
      <p:sp>
        <p:nvSpPr>
          <p:cNvPr id="4" name="Text 2"/>
          <p:cNvSpPr txBox="1"/>
          <p:nvPr/>
        </p:nvSpPr>
        <p:spPr>
          <a:xfrm>
            <a:off x="5029200" y="4773168"/>
            <a:ext cx="36576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Vaishnavi Ojha  |  12405374  |  11</a:t>
            </a:r>
            <a:endParaRPr lang="en-US" sz="900" dirty="0"/>
          </a:p>
        </p:txBody>
      </p:sp>
      <p:sp>
        <p:nvSpPr>
          <p:cNvPr id="6" name="Shape 3"/>
          <p:cNvSpPr/>
          <p:nvPr/>
        </p:nvSpPr>
        <p:spPr>
          <a:xfrm>
            <a:off x="457200" y="1051560"/>
            <a:ext cx="2606040" cy="3429000"/>
          </a:xfrm>
          <a:prstGeom prst="roundRect">
            <a:avLst>
              <a:gd name="adj" fmla="val 2807"/>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7" name="Shape 4"/>
          <p:cNvSpPr/>
          <p:nvPr/>
        </p:nvSpPr>
        <p:spPr>
          <a:xfrm>
            <a:off x="640080" y="1188720"/>
            <a:ext cx="457200" cy="457200"/>
          </a:xfrm>
          <a:prstGeom prst="ellipse">
            <a:avLst/>
          </a:prstGeom>
          <a:solidFill>
            <a:srgbClr val="5E6EF2"/>
          </a:solidFill>
          <a:ln w="12700">
            <a:solidFill>
              <a:srgbClr val="5E6EF2"/>
            </a:solidFill>
            <a:prstDash val="solid"/>
          </a:ln>
        </p:spPr>
      </p:sp>
      <p:pic>
        <p:nvPicPr>
          <p:cNvPr id="8" name="Image 0" descr="preencoded.png">    </p:cNvPr>
          <p:cNvPicPr>
            <a:picLocks noChangeAspect="1"/>
          </p:cNvPicPr>
          <p:nvPr/>
        </p:nvPicPr>
        <p:blipFill>
          <a:blip r:embed="rId1"/>
          <a:stretch>
            <a:fillRect/>
          </a:stretch>
        </p:blipFill>
        <p:spPr>
          <a:xfrm>
            <a:off x="758952" y="1307592"/>
            <a:ext cx="219456" cy="219456"/>
          </a:xfrm>
          <a:prstGeom prst="rect">
            <a:avLst/>
          </a:prstGeom>
        </p:spPr>
      </p:pic>
      <p:sp>
        <p:nvSpPr>
          <p:cNvPr id="9" name="Text 5"/>
          <p:cNvSpPr txBox="1"/>
          <p:nvPr/>
        </p:nvSpPr>
        <p:spPr>
          <a:xfrm>
            <a:off x="1234440" y="1188720"/>
            <a:ext cx="1737360" cy="457200"/>
          </a:xfrm>
          <a:prstGeom prst="rect">
            <a:avLst/>
          </a:prstGeom>
          <a:noFill/>
          <a:ln/>
        </p:spPr>
        <p:txBody>
          <a:bodyPr wrap="square" lIns="0" tIns="0" rIns="0" bIns="0" rtlCol="0" anchor="ctr"/>
          <a:lstStyle/>
          <a:p>
            <a:pPr indent="0" marL="0">
              <a:buNone/>
            </a:pPr>
            <a:r>
              <a:rPr lang="en-US" sz="1600" b="1" dirty="0">
                <a:solidFill>
                  <a:srgbClr val="0B1020"/>
                </a:solidFill>
                <a:latin typeface="Cambria" pitchFamily="34" charset="0"/>
                <a:ea typeface="Cambria" pitchFamily="34" charset="-122"/>
                <a:cs typeface="Cambria" pitchFamily="34" charset="-120"/>
              </a:rPr>
              <a:t>Advantages</a:t>
            </a:r>
            <a:endParaRPr lang="en-US" sz="1600" dirty="0"/>
          </a:p>
        </p:txBody>
      </p:sp>
      <p:sp>
        <p:nvSpPr>
          <p:cNvPr id="10" name="Text 6"/>
          <p:cNvSpPr txBox="1"/>
          <p:nvPr/>
        </p:nvSpPr>
        <p:spPr>
          <a:xfrm>
            <a:off x="640080" y="1828800"/>
            <a:ext cx="2286000" cy="25603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Efficient expression evaluation</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DSA concepts used practically</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Handles complex expressions</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Fast C++ computation</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Browser-based interface</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Persistent history and variables</a:t>
            </a:r>
            <a:endParaRPr lang="en-US" sz="1250" dirty="0"/>
          </a:p>
        </p:txBody>
      </p:sp>
      <p:sp>
        <p:nvSpPr>
          <p:cNvPr id="11" name="Shape 7"/>
          <p:cNvSpPr/>
          <p:nvPr/>
        </p:nvSpPr>
        <p:spPr>
          <a:xfrm>
            <a:off x="3246120" y="1051560"/>
            <a:ext cx="2606040" cy="3429000"/>
          </a:xfrm>
          <a:prstGeom prst="roundRect">
            <a:avLst>
              <a:gd name="adj" fmla="val 2807"/>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12" name="Shape 8"/>
          <p:cNvSpPr/>
          <p:nvPr/>
        </p:nvSpPr>
        <p:spPr>
          <a:xfrm>
            <a:off x="3429000" y="1188720"/>
            <a:ext cx="457200" cy="457200"/>
          </a:xfrm>
          <a:prstGeom prst="ellipse">
            <a:avLst/>
          </a:prstGeom>
          <a:solidFill>
            <a:srgbClr val="10B981"/>
          </a:solidFill>
          <a:ln w="12700">
            <a:solidFill>
              <a:srgbClr val="10B981"/>
            </a:solidFill>
            <a:prstDash val="solid"/>
          </a:ln>
        </p:spPr>
      </p:sp>
      <p:pic>
        <p:nvPicPr>
          <p:cNvPr id="13" name="Image 1" descr="preencoded.png">    </p:cNvPr>
          <p:cNvPicPr>
            <a:picLocks noChangeAspect="1"/>
          </p:cNvPicPr>
          <p:nvPr/>
        </p:nvPicPr>
        <p:blipFill>
          <a:blip r:embed="rId2"/>
          <a:stretch>
            <a:fillRect/>
          </a:stretch>
        </p:blipFill>
        <p:spPr>
          <a:xfrm>
            <a:off x="3547872" y="1307592"/>
            <a:ext cx="219456" cy="219456"/>
          </a:xfrm>
          <a:prstGeom prst="rect">
            <a:avLst/>
          </a:prstGeom>
        </p:spPr>
      </p:pic>
      <p:sp>
        <p:nvSpPr>
          <p:cNvPr id="14" name="Text 9"/>
          <p:cNvSpPr txBox="1"/>
          <p:nvPr/>
        </p:nvSpPr>
        <p:spPr>
          <a:xfrm>
            <a:off x="4023360" y="1188720"/>
            <a:ext cx="1737360" cy="457200"/>
          </a:xfrm>
          <a:prstGeom prst="rect">
            <a:avLst/>
          </a:prstGeom>
          <a:noFill/>
          <a:ln/>
        </p:spPr>
        <p:txBody>
          <a:bodyPr wrap="square" lIns="0" tIns="0" rIns="0" bIns="0" rtlCol="0" anchor="ctr"/>
          <a:lstStyle/>
          <a:p>
            <a:pPr indent="0" marL="0">
              <a:buNone/>
            </a:pPr>
            <a:r>
              <a:rPr lang="en-US" sz="1600" b="1" dirty="0">
                <a:solidFill>
                  <a:srgbClr val="0B1020"/>
                </a:solidFill>
                <a:latin typeface="Cambria" pitchFamily="34" charset="0"/>
                <a:ea typeface="Cambria" pitchFamily="34" charset="-122"/>
                <a:cs typeface="Cambria" pitchFamily="34" charset="-120"/>
              </a:rPr>
              <a:t>Applications</a:t>
            </a:r>
            <a:endParaRPr lang="en-US" sz="1600" dirty="0"/>
          </a:p>
        </p:txBody>
      </p:sp>
      <p:sp>
        <p:nvSpPr>
          <p:cNvPr id="15" name="Text 10"/>
          <p:cNvSpPr txBox="1"/>
          <p:nvPr/>
        </p:nvSpPr>
        <p:spPr>
          <a:xfrm>
            <a:off x="3429000" y="1828800"/>
            <a:ext cx="2286000" cy="25603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Educational calculator</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DSA / stack demonstration</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Mathematical expression evaluation</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Learning programming and algorithms</a:t>
            </a:r>
            <a:endParaRPr lang="en-US" sz="1250" dirty="0"/>
          </a:p>
        </p:txBody>
      </p:sp>
      <p:sp>
        <p:nvSpPr>
          <p:cNvPr id="16" name="Shape 11"/>
          <p:cNvSpPr/>
          <p:nvPr/>
        </p:nvSpPr>
        <p:spPr>
          <a:xfrm>
            <a:off x="6035040" y="1051560"/>
            <a:ext cx="2606040" cy="3429000"/>
          </a:xfrm>
          <a:prstGeom prst="roundRect">
            <a:avLst>
              <a:gd name="adj" fmla="val 2807"/>
            </a:avLst>
          </a:prstGeom>
          <a:solidFill>
            <a:srgbClr val="FFFFFF"/>
          </a:solidFill>
          <a:ln w="9525">
            <a:solidFill>
              <a:srgbClr val="E5E7EB"/>
            </a:solidFill>
            <a:prstDash val="solid"/>
          </a:ln>
          <a:effectLst>
            <a:outerShdw sx="100000" sy="100000" kx="0" ky="0" algn="bl" rotWithShape="0" blurRad="101600" dist="25400" dir="5400000">
              <a:srgbClr val="000000">
                <a:alpha val="12000"/>
              </a:srgbClr>
            </a:outerShdw>
          </a:effectLst>
        </p:spPr>
      </p:sp>
      <p:sp>
        <p:nvSpPr>
          <p:cNvPr id="17" name="Shape 12"/>
          <p:cNvSpPr/>
          <p:nvPr/>
        </p:nvSpPr>
        <p:spPr>
          <a:xfrm>
            <a:off x="6217920" y="1188720"/>
            <a:ext cx="457200" cy="457200"/>
          </a:xfrm>
          <a:prstGeom prst="ellipse">
            <a:avLst/>
          </a:prstGeom>
          <a:solidFill>
            <a:srgbClr val="8B5CF6"/>
          </a:solidFill>
          <a:ln w="12700">
            <a:solidFill>
              <a:srgbClr val="8B5CF6"/>
            </a:solidFill>
            <a:prstDash val="solid"/>
          </a:ln>
        </p:spPr>
      </p:sp>
      <p:pic>
        <p:nvPicPr>
          <p:cNvPr id="18" name="Image 2" descr="preencoded.png">    </p:cNvPr>
          <p:cNvPicPr>
            <a:picLocks noChangeAspect="1"/>
          </p:cNvPicPr>
          <p:nvPr/>
        </p:nvPicPr>
        <p:blipFill>
          <a:blip r:embed="rId3"/>
          <a:stretch>
            <a:fillRect/>
          </a:stretch>
        </p:blipFill>
        <p:spPr>
          <a:xfrm>
            <a:off x="6336792" y="1307592"/>
            <a:ext cx="219456" cy="219456"/>
          </a:xfrm>
          <a:prstGeom prst="rect">
            <a:avLst/>
          </a:prstGeom>
        </p:spPr>
      </p:pic>
      <p:sp>
        <p:nvSpPr>
          <p:cNvPr id="19" name="Text 13"/>
          <p:cNvSpPr txBox="1"/>
          <p:nvPr/>
        </p:nvSpPr>
        <p:spPr>
          <a:xfrm>
            <a:off x="6812280" y="1188720"/>
            <a:ext cx="1737360" cy="457200"/>
          </a:xfrm>
          <a:prstGeom prst="rect">
            <a:avLst/>
          </a:prstGeom>
          <a:noFill/>
          <a:ln/>
        </p:spPr>
        <p:txBody>
          <a:bodyPr wrap="square" lIns="0" tIns="0" rIns="0" bIns="0" rtlCol="0" anchor="ctr"/>
          <a:lstStyle/>
          <a:p>
            <a:pPr indent="0" marL="0">
              <a:buNone/>
            </a:pPr>
            <a:r>
              <a:rPr lang="en-US" sz="1600" b="1" dirty="0">
                <a:solidFill>
                  <a:srgbClr val="0B1020"/>
                </a:solidFill>
                <a:latin typeface="Cambria" pitchFamily="34" charset="0"/>
                <a:ea typeface="Cambria" pitchFamily="34" charset="-122"/>
                <a:cs typeface="Cambria" pitchFamily="34" charset="-120"/>
              </a:rPr>
              <a:t>Future Scope</a:t>
            </a:r>
            <a:endParaRPr lang="en-US" sz="1600" dirty="0"/>
          </a:p>
        </p:txBody>
      </p:sp>
      <p:sp>
        <p:nvSpPr>
          <p:cNvPr id="20" name="Text 14"/>
          <p:cNvSpPr txBox="1"/>
          <p:nvPr/>
        </p:nvSpPr>
        <p:spPr>
          <a:xfrm>
            <a:off x="6217920" y="1828800"/>
            <a:ext cx="2286000" cy="256032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More scientific functions</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Graph plotting</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Matrix calculations</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Better mobile UI</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Advanced expression parser</a:t>
            </a:r>
            <a:endParaRPr lang="en-US" sz="1250" dirty="0"/>
          </a:p>
          <a:p>
            <a:pPr marL="342900" indent="-342900">
              <a:spcAft>
                <a:spcPts val="600"/>
              </a:spcAft>
              <a:buSzPct val="100000"/>
              <a:buChar char="•"/>
            </a:pPr>
            <a:r>
              <a:rPr lang="en-US" sz="1250" dirty="0">
                <a:solidFill>
                  <a:srgbClr val="1F2937"/>
                </a:solidFill>
                <a:latin typeface="Calibri" pitchFamily="34" charset="0"/>
                <a:ea typeface="Calibri" pitchFamily="34" charset="-122"/>
                <a:cs typeface="Calibri" pitchFamily="34" charset="-120"/>
              </a:rPr>
              <a:t>More constants and functions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020"/>
        </a:solidFill>
      </p:bgPr>
    </p:bg>
    <p:spTree>
      <p:nvGrpSpPr>
        <p:cNvPr id="1" name=""/>
        <p:cNvGrpSpPr/>
        <p:nvPr/>
      </p:nvGrpSpPr>
      <p:grpSpPr>
        <a:xfrm>
          <a:off x="0" y="0"/>
          <a:ext cx="0" cy="0"/>
          <a:chOff x="0" y="0"/>
          <a:chExt cx="0" cy="0"/>
        </a:xfrm>
      </p:grpSpPr>
      <p:sp>
        <p:nvSpPr>
          <p:cNvPr id="2" name="Text 0"/>
          <p:cNvSpPr txBox="1"/>
          <p:nvPr/>
        </p:nvSpPr>
        <p:spPr>
          <a:xfrm>
            <a:off x="548640" y="457200"/>
            <a:ext cx="45720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3" name="Text 1"/>
          <p:cNvSpPr txBox="1"/>
          <p:nvPr/>
        </p:nvSpPr>
        <p:spPr>
          <a:xfrm>
            <a:off x="548640" y="1280160"/>
            <a:ext cx="4754880" cy="274320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E5E7EB"/>
                </a:solidFill>
                <a:latin typeface="Calibri" pitchFamily="34" charset="0"/>
                <a:ea typeface="Calibri" pitchFamily="34" charset="-122"/>
                <a:cs typeface="Calibri" pitchFamily="34" charset="-120"/>
              </a:rPr>
              <a:t>DSA combined with web technologies in one working project</a:t>
            </a:r>
            <a:endParaRPr lang="en-US" sz="1500" dirty="0"/>
          </a:p>
          <a:p>
            <a:pPr marL="342900" indent="-342900">
              <a:spcAft>
                <a:spcPts val="900"/>
              </a:spcAft>
              <a:buSzPct val="100000"/>
              <a:buChar char="•"/>
            </a:pPr>
            <a:r>
              <a:rPr lang="en-US" sz="1500" dirty="0">
                <a:solidFill>
                  <a:srgbClr val="E5E7EB"/>
                </a:solidFill>
                <a:latin typeface="Calibri" pitchFamily="34" charset="0"/>
                <a:ea typeface="Calibri" pitchFamily="34" charset="-122"/>
                <a:cs typeface="Calibri" pitchFamily="34" charset="-120"/>
              </a:rPr>
              <a:t>Stack is used for both parsing and evaluation</a:t>
            </a:r>
            <a:endParaRPr lang="en-US" sz="1500" dirty="0"/>
          </a:p>
          <a:p>
            <a:pPr marL="342900" indent="-342900">
              <a:spcAft>
                <a:spcPts val="900"/>
              </a:spcAft>
              <a:buSzPct val="100000"/>
              <a:buChar char="•"/>
            </a:pPr>
            <a:r>
              <a:rPr lang="en-US" sz="1500" dirty="0">
                <a:solidFill>
                  <a:srgbClr val="E5E7EB"/>
                </a:solidFill>
                <a:latin typeface="Calibri" pitchFamily="34" charset="0"/>
                <a:ea typeface="Calibri" pitchFamily="34" charset="-122"/>
                <a:cs typeface="Calibri" pitchFamily="34" charset="-120"/>
              </a:rPr>
              <a:t>C++ provides the core evaluation engine</a:t>
            </a:r>
            <a:endParaRPr lang="en-US" sz="1500" dirty="0"/>
          </a:p>
          <a:p>
            <a:pPr marL="342900" indent="-342900">
              <a:spcAft>
                <a:spcPts val="900"/>
              </a:spcAft>
              <a:buSzPct val="100000"/>
              <a:buChar char="•"/>
            </a:pPr>
            <a:r>
              <a:rPr lang="en-US" sz="1500" dirty="0">
                <a:solidFill>
                  <a:srgbClr val="E5E7EB"/>
                </a:solidFill>
                <a:latin typeface="Calibri" pitchFamily="34" charset="0"/>
                <a:ea typeface="Calibri" pitchFamily="34" charset="-122"/>
                <a:cs typeface="Calibri" pitchFamily="34" charset="-120"/>
              </a:rPr>
              <a:t>WebAssembly connects the C++ engine to the browser</a:t>
            </a:r>
            <a:endParaRPr lang="en-US" sz="1500" dirty="0"/>
          </a:p>
          <a:p>
            <a:pPr marL="342900" indent="-342900">
              <a:spcAft>
                <a:spcPts val="900"/>
              </a:spcAft>
              <a:buSzPct val="100000"/>
              <a:buChar char="•"/>
            </a:pPr>
            <a:r>
              <a:rPr lang="en-US" sz="1500" dirty="0">
                <a:solidFill>
                  <a:srgbClr val="E5E7EB"/>
                </a:solidFill>
                <a:latin typeface="Calibri" pitchFamily="34" charset="0"/>
                <a:ea typeface="Calibri" pitchFamily="34" charset="-122"/>
                <a:cs typeface="Calibri" pitchFamily="34" charset="-120"/>
              </a:rPr>
              <a:t>Result: an interactive, feature-rich calculator</a:t>
            </a:r>
            <a:endParaRPr lang="en-US" sz="1500" dirty="0"/>
          </a:p>
        </p:txBody>
      </p:sp>
      <p:sp>
        <p:nvSpPr>
          <p:cNvPr id="4" name="Shape 2"/>
          <p:cNvSpPr/>
          <p:nvPr/>
        </p:nvSpPr>
        <p:spPr>
          <a:xfrm>
            <a:off x="5669280" y="1280160"/>
            <a:ext cx="2926080" cy="2377440"/>
          </a:xfrm>
          <a:prstGeom prst="roundRect">
            <a:avLst>
              <a:gd name="adj" fmla="val 3846"/>
            </a:avLst>
          </a:prstGeom>
          <a:solidFill>
            <a:srgbClr val="171C33"/>
          </a:solidFill>
          <a:ln w="19050">
            <a:solidFill>
              <a:srgbClr val="5E6EF2"/>
            </a:solidFill>
            <a:prstDash val="solid"/>
          </a:ln>
        </p:spPr>
      </p:sp>
      <p:sp>
        <p:nvSpPr>
          <p:cNvPr id="5" name="Text 3"/>
          <p:cNvSpPr txBox="1"/>
          <p:nvPr/>
        </p:nvSpPr>
        <p:spPr>
          <a:xfrm>
            <a:off x="5669280" y="1280160"/>
            <a:ext cx="2926080" cy="237744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Thank You</a:t>
            </a:r>
            <a:endParaRPr lang="en-US" sz="3000" dirty="0"/>
          </a:p>
          <a:p>
            <a:pPr algn="ctr" indent="0" marL="0">
              <a:buNone/>
            </a:pPr>
            <a:r>
              <a:rPr lang="en-US" sz="2200" dirty="0">
                <a:solidFill>
                  <a:srgbClr val="10B981"/>
                </a:solidFill>
                <a:latin typeface="Cambria" pitchFamily="34" charset="0"/>
                <a:ea typeface="Cambria" pitchFamily="34" charset="-122"/>
                <a:cs typeface="Cambria" pitchFamily="34" charset="-120"/>
              </a:rPr>
              <a:t>Questions?</a:t>
            </a:r>
            <a:endParaRPr lang="en-US" sz="3000" dirty="0"/>
          </a:p>
          <a:p>
            <a:pPr algn="ctr" indent="0" marL="0">
              <a:buNone/>
            </a:pPr>
            <a:r>
              <a:rPr lang="en-US" sz="800" dirty="0">
                <a:solidFill>
                  <a:srgbClr val="000000"/>
                </a:solidFill>
              </a:rPr>
              <a:t> </a:t>
            </a:r>
            <a:endParaRPr lang="en-US" sz="3000" dirty="0"/>
          </a:p>
          <a:p>
            <a:pPr algn="ctr" indent="0" marL="0">
              <a:buNone/>
            </a:pPr>
            <a:r>
              <a:rPr lang="en-US" sz="1300" dirty="0">
                <a:solidFill>
                  <a:srgbClr val="C7D2FE"/>
                </a:solidFill>
                <a:latin typeface="Calibri" pitchFamily="34" charset="0"/>
                <a:ea typeface="Calibri" pitchFamily="34" charset="-122"/>
                <a:cs typeface="Calibri" pitchFamily="34" charset="-120"/>
              </a:rPr>
              <a:t>Vaishnavi Ojha</a:t>
            </a:r>
            <a:endParaRPr lang="en-US" sz="3000" dirty="0"/>
          </a:p>
          <a:p>
            <a:pPr algn="ctr" indent="0" marL="0">
              <a:buNone/>
            </a:pPr>
            <a:r>
              <a:rPr lang="en-US" sz="1200" dirty="0">
                <a:solidFill>
                  <a:srgbClr val="9CA3AF"/>
                </a:solidFill>
                <a:latin typeface="Calibri" pitchFamily="34" charset="0"/>
                <a:ea typeface="Calibri" pitchFamily="34" charset="-122"/>
                <a:cs typeface="Calibri" pitchFamily="34" charset="-120"/>
              </a:rPr>
              <a:t>12405374</a:t>
            </a:r>
            <a:endParaRPr lang="en-US" sz="3000" dirty="0"/>
          </a:p>
        </p:txBody>
      </p:sp>
      <p:sp>
        <p:nvSpPr>
          <p:cNvPr id="6" name="Text 4"/>
          <p:cNvSpPr txBox="1"/>
          <p:nvPr/>
        </p:nvSpPr>
        <p:spPr>
          <a:xfrm>
            <a:off x="5029200" y="4773168"/>
            <a:ext cx="36576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Vaishnavi Ojha  |  12405374  |  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Calculator – Stack-Based Expression Evaluator</dc:title>
  <dc:subject>PptxGenJS Presentation</dc:subject>
  <dc:creator>Vaishnavi Ojha</dc:creator>
  <cp:lastModifiedBy>Vaishnavi Ojha</cp:lastModifiedBy>
  <cp:revision>1</cp:revision>
  <dcterms:created xsi:type="dcterms:W3CDTF">2026-09-30T10:56:49Z</dcterms:created>
  <dcterms:modified xsi:type="dcterms:W3CDTF">2026-09-30T10:56:49Z</dcterms:modified>
</cp:coreProperties>
</file>